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9144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18288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27432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36576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45720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3175">
            <a:solidFill>
              <a:srgbClr val="E8D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01 / 08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777240"/>
            <a:ext cx="1828800" cy="310896"/>
          </a:xfrm>
          <a:prstGeom prst="roundRect">
            <a:avLst/>
          </a:prstGeom>
          <a:solidFill>
            <a:srgbClr val="0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818388"/>
            <a:ext cx="18288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Consolas"/>
              </a:defRPr>
            </a:pPr>
            <a:r>
              <a:t>SAR 43,000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1993392"/>
            <a:ext cx="1691640" cy="310896"/>
          </a:xfrm>
          <a:prstGeom prst="roundRect">
            <a:avLst/>
          </a:prstGeom>
          <a:solidFill>
            <a:srgbClr val="B8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2034540"/>
            <a:ext cx="169164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SAR 12,800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3182112"/>
            <a:ext cx="1600200" cy="310896"/>
          </a:xfrm>
          <a:prstGeom prst="roundRect">
            <a:avLst/>
          </a:prstGeom>
          <a:solidFill>
            <a:srgbClr val="C84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3223260"/>
            <a:ext cx="16002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Consolas"/>
              </a:defRPr>
            </a:pPr>
            <a:r>
              <a:t>SAR 8,400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2920"/>
            <a:ext cx="38404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 i="0">
                <a:solidFill>
                  <a:srgbClr val="0A0E0C"/>
                </a:solidFill>
                <a:latin typeface="Georgia"/>
              </a:defRPr>
            </a:pPr>
            <a:r>
              <a:t>Nazm·OS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566928"/>
            <a:ext cx="374903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800" b="1" i="0">
                <a:solidFill>
                  <a:srgbClr val="0A0E0C"/>
                </a:solidFill>
                <a:latin typeface="Arial"/>
              </a:defRPr>
            </a:pPr>
            <a:r>
              <a:t>نظم — نظام استرجاع الأرباح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1627632"/>
            <a:ext cx="10241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A0E0C"/>
                </a:solidFill>
                <a:latin typeface="Georgia"/>
              </a:rPr>
              <a:t>Find the </a:t>
            </a:r>
            <a:r>
              <a:rPr sz="5800" b="1" i="1">
                <a:solidFill>
                  <a:srgbClr val="0B6B3A"/>
                </a:solidFill>
                <a:latin typeface="Georgia"/>
              </a:rPr>
              <a:t>cash</a:t>
            </a:r>
            <a:r>
              <a:rPr sz="5800" b="1" i="0">
                <a:solidFill>
                  <a:srgbClr val="0A0E0C"/>
                </a:solidFill>
                <a:latin typeface="Georgia"/>
              </a:rPr>
              <a:t>
trapped inside
your store.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230368"/>
            <a:ext cx="3566160" cy="50292"/>
          </a:xfrm>
          <a:prstGeom prst="rect">
            <a:avLst/>
          </a:prstGeom>
          <a:solidFill>
            <a:srgbClr val="0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394960"/>
            <a:ext cx="81381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50" b="0" i="0">
                <a:solidFill>
                  <a:srgbClr val="0A0E0C"/>
                </a:solidFill>
                <a:latin typeface="Arial"/>
              </a:defRPr>
            </a:pPr>
            <a:r>
              <a:t>Dead stock. Empty shelves. Margin leaks. NazmOS finds them and helps you recover — on WhatsApp.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989320"/>
            <a:ext cx="2423160" cy="420624"/>
          </a:xfrm>
          <a:prstGeom prst="roundRect">
            <a:avLst/>
          </a:prstGeom>
          <a:solidFill>
            <a:srgbClr val="0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6030468"/>
            <a:ext cx="242316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Consolas"/>
              </a:defRPr>
            </a:pPr>
            <a:r>
              <a:t>GET A FREE MONEY AUDIT →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02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YOU STAY IN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32688"/>
            <a:ext cx="89611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 i="0">
                <a:solidFill>
                  <a:srgbClr val="0A0E0C"/>
                </a:solidFill>
                <a:latin typeface="Georgia"/>
              </a:defRPr>
            </a:pPr>
            <a:r>
              <a:t>No complicated setup.</a:t>
            </a:r>
          </a:p>
          <a:p>
            <a:pPr algn="l">
              <a:defRPr sz="3400" b="1" i="0">
                <a:solidFill>
                  <a:srgbClr val="0A0E0C"/>
                </a:solidFill>
                <a:latin typeface="Georgia"/>
              </a:defRPr>
            </a:pPr>
            <a:r>
              <a:t>No risk to your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31720"/>
            <a:ext cx="5074920" cy="3429000"/>
          </a:xfrm>
          <a:prstGeom prst="roundRect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596896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 i="0">
                <a:solidFill>
                  <a:srgbClr val="0A0E0C"/>
                </a:solidFill>
                <a:latin typeface="Georgia"/>
              </a:defRPr>
            </a:pPr>
            <a:r>
              <a:t>What you do NOT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063240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0B6B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063240"/>
            <a:ext cx="400507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0A0E0C"/>
                </a:solidFill>
                <a:latin typeface="Arial"/>
              </a:defRPr>
            </a:pPr>
            <a:r>
              <a:t>No POS replacement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483864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0B6B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483864"/>
            <a:ext cx="400507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0A0E0C"/>
                </a:solidFill>
                <a:latin typeface="Arial"/>
              </a:defRPr>
            </a:pPr>
            <a:r>
              <a:t>No customer names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904488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0B6B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04488"/>
            <a:ext cx="400507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0A0E0C"/>
                </a:solidFill>
                <a:latin typeface="Arial"/>
              </a:defRPr>
            </a:pPr>
            <a:r>
              <a:t>You can remove sensitive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325112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0B6B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325112"/>
            <a:ext cx="400507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0A0E0C"/>
                </a:solidFill>
                <a:latin typeface="Arial"/>
              </a:defRPr>
            </a:pPr>
            <a:r>
              <a:t>Works with your accountant — does not replace them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745736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0B6B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745736"/>
            <a:ext cx="400507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0A0E0C"/>
                </a:solidFill>
                <a:latin typeface="Arial"/>
              </a:defRPr>
            </a:pPr>
            <a:r>
              <a:t>No cashiers need to learn new software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331720"/>
            <a:ext cx="5166360" cy="3429000"/>
          </a:xfrm>
          <a:prstGeom prst="round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2606040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E0B34A"/>
                </a:solidFill>
                <a:latin typeface="Consolas"/>
              </a:defRPr>
            </a:pPr>
            <a:r>
              <a:t>TO START, SEND 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3063240"/>
            <a:ext cx="438912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Georgia"/>
              </a:defRPr>
            </a:pPr>
            <a:r>
              <a:t>1. Last 90 days sales export</a:t>
            </a:r>
          </a:p>
          <a:p>
            <a:pPr algn="l">
              <a:defRPr sz="1800" b="1" i="0">
                <a:solidFill>
                  <a:srgbClr val="FFFFFF"/>
                </a:solidFill>
                <a:latin typeface="Georgia"/>
              </a:defRPr>
            </a:pPr>
            <a:r>
              <a:t>2. Current inventory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4251960"/>
            <a:ext cx="438912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ECE5D6"/>
                </a:solidFill>
                <a:latin typeface="Arial"/>
              </a:defRPr>
            </a:pPr>
            <a:r>
              <a:t>Excel, CSV, or POS export is fine.</a:t>
            </a:r>
          </a:p>
          <a:p>
            <a:pPr algn="l">
              <a:defRPr sz="1200" b="0" i="0">
                <a:solidFill>
                  <a:srgbClr val="ECE5D6"/>
                </a:solidFill>
                <a:latin typeface="Arial"/>
              </a:defRPr>
            </a:pPr>
            <a:r>
              <a:t>No customer names needed.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56832" y="5138928"/>
            <a:ext cx="4434840" cy="41148"/>
          </a:xfrm>
          <a:prstGeom prst="rect">
            <a:avLst/>
          </a:prstGeom>
          <a:solidFill>
            <a:srgbClr val="E0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2" y="5303520"/>
            <a:ext cx="43891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 i="1">
                <a:solidFill>
                  <a:srgbClr val="13A05A"/>
                </a:solidFill>
                <a:latin typeface="Georgia"/>
              </a:defRPr>
            </a:pPr>
            <a:r>
              <a:t>Get your Money Audit in 48 hours.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03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YOUR FIRST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14400"/>
            <a:ext cx="81381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600" b="1" i="0">
                <a:solidFill>
                  <a:srgbClr val="0A0E0C"/>
                </a:solidFill>
                <a:latin typeface="Georgia"/>
              </a:defRPr>
            </a:pPr>
            <a:r>
              <a:t>The NazmOS Money Audit.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27632"/>
            <a:ext cx="1508760" cy="292608"/>
          </a:xfrm>
          <a:prstGeom prst="roundRect">
            <a:avLst/>
          </a:prstGeom>
          <a:solidFill>
            <a:srgbClr val="C84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68780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Consolas"/>
              </a:defRPr>
            </a:pPr>
            <a:r>
              <a:t>SAMPLE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212848"/>
            <a:ext cx="5074920" cy="3950208"/>
          </a:xfrm>
          <a:prstGeom prst="round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14600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00" b="1" i="0">
                <a:solidFill>
                  <a:srgbClr val="C8412A"/>
                </a:solidFill>
                <a:latin typeface="Consolas"/>
              </a:defRPr>
            </a:pPr>
            <a:r>
              <a:t>MONEY AT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07792"/>
            <a:ext cx="452628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Georgia"/>
              </a:defRPr>
            </a:pPr>
            <a:r>
              <a:t>SAR 143,000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3776472"/>
            <a:ext cx="4389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ECE5D6"/>
                </a:solidFill>
                <a:latin typeface="Arial"/>
              </a:defRPr>
            </a:pPr>
            <a:r>
              <a:t>per year · potential recovery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2415" y="4498848"/>
            <a:ext cx="4343400" cy="45720"/>
          </a:xfrm>
          <a:prstGeom prst="rect">
            <a:avLst/>
          </a:prstGeom>
          <a:solidFill>
            <a:srgbClr val="E0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4736592"/>
            <a:ext cx="42976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 i="1">
                <a:solidFill>
                  <a:srgbClr val="ECE5D6"/>
                </a:solidFill>
                <a:latin typeface="Georgia"/>
              </a:defRPr>
            </a:pPr>
            <a:r>
              <a:t>This is what we identify as trapped, leaking, or at risk inside your store.</a:t>
            </a:r>
          </a:p>
        </p:txBody>
      </p:sp>
      <p:sp>
        <p:nvSpPr>
          <p:cNvPr id="15" name="Oval 14"/>
          <p:cNvSpPr/>
          <p:nvPr/>
        </p:nvSpPr>
        <p:spPr>
          <a:xfrm>
            <a:off x="6419088" y="2514600"/>
            <a:ext cx="411480" cy="411480"/>
          </a:xfrm>
          <a:prstGeom prst="ellipse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564892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C8412A"/>
                </a:solidFill>
                <a:latin typeface="Consolas"/>
              </a:defRPr>
            </a:pPr>
            <a:r>
              <a:t>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3448" y="2551176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 i="0">
                <a:solidFill>
                  <a:srgbClr val="0A0E0C"/>
                </a:solidFill>
                <a:latin typeface="Arial"/>
              </a:defRPr>
            </a:pPr>
            <a:r>
              <a:t>Cash trapped in dead 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13848" y="2551176"/>
            <a:ext cx="1600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250" b="1" i="0">
                <a:solidFill>
                  <a:srgbClr val="0A0E0C"/>
                </a:solidFill>
                <a:latin typeface="Consolas"/>
              </a:defRPr>
            </a:pPr>
            <a:r>
              <a:t>SAR 61,000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0" y="3081528"/>
            <a:ext cx="4956048" cy="0"/>
          </a:xfrm>
          <a:prstGeom prst="line">
            <a:avLst/>
          </a:prstGeom>
          <a:ln w="8890">
            <a:solidFill>
              <a:srgbClr val="DFD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419088" y="3291840"/>
            <a:ext cx="411480" cy="411480"/>
          </a:xfrm>
          <a:prstGeom prst="ellipse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342132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B8862E"/>
                </a:solidFill>
                <a:latin typeface="Consolas"/>
              </a:defRPr>
            </a:pPr>
            <a:r>
              <a:t>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3448" y="3328416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 i="0">
                <a:solidFill>
                  <a:srgbClr val="0A0E0C"/>
                </a:solidFill>
                <a:latin typeface="Arial"/>
              </a:defRPr>
            </a:pPr>
            <a:r>
              <a:t>Margin recovery opportunity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13848" y="3328416"/>
            <a:ext cx="1600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250" b="1" i="0">
                <a:solidFill>
                  <a:srgbClr val="0A0E0C"/>
                </a:solidFill>
                <a:latin typeface="Consolas"/>
              </a:defRPr>
            </a:pPr>
            <a:r>
              <a:t>SAR 18,000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0" y="3858768"/>
            <a:ext cx="4956048" cy="0"/>
          </a:xfrm>
          <a:prstGeom prst="line">
            <a:avLst/>
          </a:prstGeom>
          <a:ln w="8890">
            <a:solidFill>
              <a:srgbClr val="DFD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419088" y="4069080"/>
            <a:ext cx="411480" cy="411480"/>
          </a:xfrm>
          <a:prstGeom prst="ellipse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4119372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0B6B3A"/>
                </a:solidFill>
                <a:latin typeface="Consolas"/>
              </a:defRPr>
            </a:pPr>
            <a:r>
              <a:t>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8" y="4105656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 i="0">
                <a:solidFill>
                  <a:srgbClr val="0A0E0C"/>
                </a:solidFill>
                <a:latin typeface="Arial"/>
              </a:defRPr>
            </a:pPr>
            <a:r>
              <a:t>Inventory transfer opportunity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13848" y="4105656"/>
            <a:ext cx="1600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250" b="1" i="0">
                <a:solidFill>
                  <a:srgbClr val="0A0E0C"/>
                </a:solidFill>
                <a:latin typeface="Consolas"/>
              </a:defRPr>
            </a:pPr>
            <a:r>
              <a:t>SAR 9,200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0" y="4636008"/>
            <a:ext cx="4956048" cy="0"/>
          </a:xfrm>
          <a:prstGeom prst="line">
            <a:avLst/>
          </a:prstGeom>
          <a:ln w="8890">
            <a:solidFill>
              <a:srgbClr val="DFD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419088" y="4846320"/>
            <a:ext cx="411480" cy="411480"/>
          </a:xfrm>
          <a:prstGeom prst="ellipse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4896612"/>
            <a:ext cx="411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C8412A"/>
                </a:solidFill>
                <a:latin typeface="Consolas"/>
              </a:defRPr>
            </a:pPr>
            <a:r>
              <a:t>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3448" y="4882896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 i="0">
                <a:solidFill>
                  <a:srgbClr val="0A0E0C"/>
                </a:solidFill>
                <a:latin typeface="Arial"/>
              </a:defRPr>
            </a:pPr>
            <a:r>
              <a:t>Stockouts expected this week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13848" y="4882896"/>
            <a:ext cx="1600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250" b="1" i="0">
                <a:solidFill>
                  <a:srgbClr val="0A0E0C"/>
                </a:solidFill>
                <a:latin typeface="Consolas"/>
              </a:defRPr>
            </a:pPr>
            <a:r>
              <a:t>7 items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0" y="5413248"/>
            <a:ext cx="4956048" cy="0"/>
          </a:xfrm>
          <a:prstGeom prst="line">
            <a:avLst/>
          </a:prstGeom>
          <a:ln w="8890">
            <a:solidFill>
              <a:srgbClr val="DFD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419088" y="5522976"/>
            <a:ext cx="4937760" cy="548640"/>
          </a:xfrm>
          <a:prstGeom prst="roundRect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5650992"/>
            <a:ext cx="2240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686961"/>
                </a:solidFill>
                <a:latin typeface="Consolas"/>
              </a:defRPr>
            </a:pPr>
            <a:r>
              <a:t>Recommended next step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5623560"/>
            <a:ext cx="2423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50" b="1" i="0">
                <a:solidFill>
                  <a:srgbClr val="0B6B3A"/>
                </a:solidFill>
                <a:latin typeface="Consolas"/>
              </a:defRPr>
            </a:pPr>
            <a:r>
              <a:t>30-Day Pilot · SAR 3,000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04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WHAT WE 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14400"/>
            <a:ext cx="1024128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300" b="1" i="0">
                <a:solidFill>
                  <a:srgbClr val="0A0E0C"/>
                </a:solidFill>
                <a:latin typeface="Georgia"/>
              </a:defRPr>
            </a:pPr>
            <a:r>
              <a:t>We monitor the four ways stores lose money.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029968"/>
            <a:ext cx="5212080" cy="1783080"/>
          </a:xfrm>
          <a:prstGeom prst="roundRect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29968"/>
            <a:ext cx="73152" cy="1783080"/>
          </a:xfrm>
          <a:prstGeom prst="rect">
            <a:avLst/>
          </a:prstGeom>
          <a:solidFill>
            <a:srgbClr val="C84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267712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 i="0">
                <a:solidFill>
                  <a:srgbClr val="0A0E0C"/>
                </a:solidFill>
                <a:latin typeface="Georgia"/>
              </a:defRPr>
            </a:pPr>
            <a:r>
              <a:t>Cash Leakage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816352"/>
            <a:ext cx="44348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60" b="0" i="0">
                <a:solidFill>
                  <a:srgbClr val="0A0E0C"/>
                </a:solidFill>
                <a:latin typeface="Arial"/>
              </a:defRPr>
            </a:pPr>
            <a:r>
              <a:t>Money stuck in slow-moving or dead stock that ties up your cash 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29968"/>
            <a:ext cx="5212080" cy="1783080"/>
          </a:xfrm>
          <a:prstGeom prst="roundRect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029968"/>
            <a:ext cx="73152" cy="1783080"/>
          </a:xfrm>
          <a:prstGeom prst="rect">
            <a:avLst/>
          </a:prstGeom>
          <a:solidFill>
            <a:srgbClr val="B8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267712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 i="0">
                <a:solidFill>
                  <a:srgbClr val="0A0E0C"/>
                </a:solidFill>
                <a:latin typeface="Georgia"/>
              </a:defRPr>
            </a:pPr>
            <a:r>
              <a:t>Stockout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816352"/>
            <a:ext cx="44348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60" b="0" i="0">
                <a:solidFill>
                  <a:srgbClr val="0A0E0C"/>
                </a:solidFill>
                <a:latin typeface="Arial"/>
              </a:defRPr>
            </a:pPr>
            <a:r>
              <a:t>Fast-moving items about to run out, costing you sales and customers.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279392"/>
            <a:ext cx="5212080" cy="1783080"/>
          </a:xfrm>
          <a:prstGeom prst="roundRect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4279392"/>
            <a:ext cx="73152" cy="1783080"/>
          </a:xfrm>
          <a:prstGeom prst="rect">
            <a:avLst/>
          </a:prstGeom>
          <a:solidFill>
            <a:srgbClr val="0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4517136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 i="0">
                <a:solidFill>
                  <a:srgbClr val="0A0E0C"/>
                </a:solidFill>
                <a:latin typeface="Georgia"/>
              </a:defRPr>
            </a:pPr>
            <a:r>
              <a:t>Margin Drops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5065776"/>
            <a:ext cx="44348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60" b="0" i="0">
                <a:solidFill>
                  <a:srgbClr val="0A0E0C"/>
                </a:solidFill>
                <a:latin typeface="Arial"/>
              </a:defRPr>
            </a:pPr>
            <a:r>
              <a:t>Supplier costs increasing quietly, eating into your daily profits.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279392"/>
            <a:ext cx="5212080" cy="1783080"/>
          </a:xfrm>
          <a:prstGeom prst="roundRect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279392"/>
            <a:ext cx="73152" cy="1783080"/>
          </a:xfrm>
          <a:prstGeom prst="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4517136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100" b="1" i="0">
                <a:solidFill>
                  <a:srgbClr val="0A0E0C"/>
                </a:solidFill>
                <a:latin typeface="Georgia"/>
              </a:defRPr>
            </a:pPr>
            <a:r>
              <a:t>Branch Imbalance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5065776"/>
            <a:ext cx="44348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60" b="0" i="0">
                <a:solidFill>
                  <a:srgbClr val="0A0E0C"/>
                </a:solidFill>
                <a:latin typeface="Arial"/>
              </a:defRPr>
            </a:pPr>
            <a:r>
              <a:t>Overstock in one branch while another runs empty. We suggest transfers.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F4EFE6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8696A0"/>
                </a:solidFill>
                <a:latin typeface="Consolas"/>
              </a:defRPr>
            </a:pPr>
            <a:r>
              <a:t>05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86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8696A0"/>
                </a:solidFill>
                <a:latin typeface="Consolas"/>
              </a:defRPr>
            </a:pPr>
            <a:r>
              <a:t>THE OWNER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14400"/>
            <a:ext cx="6400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800" b="1" i="0">
                <a:solidFill>
                  <a:srgbClr val="FFFFFF"/>
                </a:solidFill>
                <a:latin typeface="Georgia"/>
              </a:defRPr>
            </a:pPr>
            <a:r>
              <a:t>Approve fixes in one tap.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57400"/>
            <a:ext cx="3977639" cy="1691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 i="0">
                <a:solidFill>
                  <a:srgbClr val="ECE5D6"/>
                </a:solidFill>
                <a:latin typeface="Arial"/>
              </a:defRPr>
            </a:pPr>
            <a:r>
              <a:t>NazmOS doesn't just show charts.</a:t>
            </a:r>
          </a:p>
          <a:p>
            <a:pPr algn="l">
              <a:defRPr sz="1500" b="0" i="0">
                <a:solidFill>
                  <a:srgbClr val="ECE5D6"/>
                </a:solidFill>
                <a:latin typeface="Arial"/>
              </a:defRPr>
            </a:pPr>
            <a:r>
              <a:t>It sends specific actions directly to the owner's WhatsApp.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977639"/>
            <a:ext cx="388620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E0B34A"/>
                </a:solidFill>
                <a:latin typeface="Georgia"/>
              </a:defRPr>
            </a:pPr>
            <a:r>
              <a:t>No app to learn. No daily logins. Just simple decisions that protect cash.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234440"/>
            <a:ext cx="3337560" cy="5230368"/>
          </a:xfrm>
          <a:prstGeom prst="roundRect">
            <a:avLst/>
          </a:prstGeom>
          <a:solidFill>
            <a:srgbClr val="050706"/>
          </a:solidFill>
          <a:ln w="127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76088" y="1481328"/>
            <a:ext cx="2935224" cy="4754880"/>
          </a:xfrm>
          <a:prstGeom prst="round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76088" y="1481328"/>
            <a:ext cx="2935224" cy="621792"/>
          </a:xfrm>
          <a:prstGeom prst="roundRect">
            <a:avLst/>
          </a:prstGeom>
          <a:solidFill>
            <a:srgbClr val="1F2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86400" y="1627632"/>
            <a:ext cx="384048" cy="384048"/>
          </a:xfrm>
          <a:prstGeom prst="ellipse">
            <a:avLst/>
          </a:prstGeom>
          <a:solidFill>
            <a:srgbClr val="0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70078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Georgia"/>
              </a:defRPr>
            </a:pPr>
            <a:r>
              <a:t>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1600200"/>
            <a:ext cx="1417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050" b="1" i="0">
                <a:solidFill>
                  <a:srgbClr val="FFFFFF"/>
                </a:solidFill>
                <a:latin typeface="Arial"/>
              </a:defRPr>
            </a:pPr>
            <a:r>
              <a:t>NazmOS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1828800"/>
            <a:ext cx="1417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750" b="0" i="0">
                <a:solidFill>
                  <a:srgbClr val="8696A0"/>
                </a:solidFill>
                <a:latin typeface="Arial"/>
              </a:defRPr>
            </a:pPr>
            <a:r>
              <a:t>online · Business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04688" y="2423160"/>
            <a:ext cx="2487168" cy="1417320"/>
          </a:xfrm>
          <a:prstGeom prst="roundRect">
            <a:avLst/>
          </a:prstGeom>
          <a:solidFill>
            <a:srgbClr val="3D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50992" y="2560320"/>
            <a:ext cx="21762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50" b="1" i="0">
                <a:solidFill>
                  <a:srgbClr val="C8412A"/>
                </a:solidFill>
                <a:latin typeface="Arial"/>
              </a:defRPr>
            </a:pPr>
            <a:r>
              <a:t>تنبيه نفاد المخزون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0992" y="2852928"/>
            <a:ext cx="2176272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19" b="0" i="0">
                <a:solidFill>
                  <a:srgbClr val="FFFFFF"/>
                </a:solidFill>
                <a:latin typeface="Arial"/>
              </a:defRPr>
            </a:pPr>
            <a:r>
              <a:t>حليب المراعي قد ينتهي خلال 1.8 يوم.</a:t>
            </a:r>
          </a:p>
          <a:p>
            <a:pPr algn="r">
              <a:defRPr sz="919" b="0" i="0">
                <a:solidFill>
                  <a:srgbClr val="FFFFFF"/>
                </a:solidFill>
                <a:latin typeface="Arial"/>
              </a:defRPr>
            </a:pPr>
            <a:r>
              <a:t>الطلب المقترح: 120 وحدة</a:t>
            </a:r>
          </a:p>
          <a:p>
            <a:pPr algn="r">
              <a:defRPr sz="919" b="0" i="0">
                <a:solidFill>
                  <a:srgbClr val="FFFFFF"/>
                </a:solidFill>
                <a:latin typeface="Arial"/>
              </a:defRPr>
            </a:pPr>
            <a:r>
              <a:t>التكلفة: 840 ر.س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04688" y="4041648"/>
            <a:ext cx="2487168" cy="914400"/>
          </a:xfrm>
          <a:prstGeom prst="roundRect">
            <a:avLst/>
          </a:prstGeom>
          <a:solidFill>
            <a:srgbClr val="1A3A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50992" y="4160520"/>
            <a:ext cx="2176272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40" b="0" i="0">
                <a:solidFill>
                  <a:srgbClr val="FFFFFF"/>
                </a:solidFill>
                <a:latin typeface="Arial"/>
              </a:defRPr>
            </a:pPr>
            <a:r>
              <a:t>Stockout Warning:</a:t>
            </a:r>
          </a:p>
          <a:p>
            <a:pPr algn="l">
              <a:defRPr sz="840" b="0" i="0">
                <a:solidFill>
                  <a:srgbClr val="FFFFFF"/>
                </a:solidFill>
                <a:latin typeface="Arial"/>
              </a:defRPr>
            </a:pPr>
            <a:r>
              <a:t>Almarai Milk may finish in 1.8 days.</a:t>
            </a:r>
          </a:p>
          <a:p>
            <a:pPr algn="l">
              <a:defRPr sz="840" b="0" i="0">
                <a:solidFill>
                  <a:srgbClr val="FFFFFF"/>
                </a:solidFill>
                <a:latin typeface="Arial"/>
              </a:defRPr>
            </a:pPr>
            <a:r>
              <a:t>Reorder 120 units.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04688" y="5230368"/>
            <a:ext cx="1143000" cy="384048"/>
          </a:xfrm>
          <a:prstGeom prst="round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04688" y="5312664"/>
            <a:ext cx="1143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 i="0">
                <a:solidFill>
                  <a:srgbClr val="0A0E0C"/>
                </a:solidFill>
                <a:latin typeface="Arial"/>
              </a:defRPr>
            </a:pPr>
            <a:r>
              <a:t>✓ موافقة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39712" y="5230368"/>
            <a:ext cx="1143000" cy="384048"/>
          </a:xfrm>
          <a:prstGeom prst="roundRect">
            <a:avLst/>
          </a:prstGeom>
          <a:solidFill>
            <a:srgbClr val="1F2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712" y="5312664"/>
            <a:ext cx="1143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✕ رفض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2057400"/>
            <a:ext cx="2560320" cy="3063240"/>
          </a:xfrm>
          <a:prstGeom prst="roundRect">
            <a:avLst/>
          </a:prstGeom>
          <a:solidFill>
            <a:srgbClr val="132018"/>
          </a:solidFill>
          <a:ln w="12700">
            <a:solidFill>
              <a:srgbClr val="224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2331720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E0B34A"/>
                </a:solidFill>
                <a:latin typeface="Consolas"/>
              </a:defRPr>
            </a:pPr>
            <a:r>
              <a:t>HOW IT WORKS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2788920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25D36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46336" y="2788920"/>
            <a:ext cx="162763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ECE5D6"/>
                </a:solidFill>
                <a:latin typeface="Arial"/>
              </a:defRPr>
            </a:pPr>
            <a:r>
              <a:t>Detect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3227832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25D36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6336" y="3227832"/>
            <a:ext cx="162763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ECE5D6"/>
                </a:solidFill>
                <a:latin typeface="Arial"/>
              </a:defRPr>
            </a:pPr>
            <a:r>
              <a:t>Send recommendation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3666744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25D36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3666744"/>
            <a:ext cx="162763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ECE5D6"/>
                </a:solidFill>
                <a:latin typeface="Arial"/>
              </a:defRPr>
            </a:pPr>
            <a:r>
              <a:t>Owner approves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4105656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25D36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46336" y="4105656"/>
            <a:ext cx="162763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 i="0">
                <a:solidFill>
                  <a:srgbClr val="ECE5D6"/>
                </a:solidFill>
                <a:latin typeface="Arial"/>
              </a:defRPr>
            </a:pPr>
            <a:r>
              <a:t>Cash is protected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06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YOUR WEEKLY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14400"/>
            <a:ext cx="98755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 i="0">
                <a:solidFill>
                  <a:srgbClr val="0A0E0C"/>
                </a:solidFill>
                <a:latin typeface="Georgia"/>
              </a:defRPr>
            </a:pPr>
            <a:r>
              <a:t>Every Thursday: The Money Report.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084831"/>
            <a:ext cx="3429000" cy="1938528"/>
          </a:xfrm>
          <a:prstGeom prst="round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286000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C8412A"/>
                </a:solidFill>
                <a:latin typeface="Consolas"/>
              </a:defRPr>
            </a:pPr>
            <a:r>
              <a:t>MONEY AT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651760"/>
            <a:ext cx="29718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SAR 25,300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346703"/>
            <a:ext cx="2971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50" b="0" i="0">
                <a:solidFill>
                  <a:srgbClr val="ECE5D6"/>
                </a:solidFill>
                <a:latin typeface="Arial"/>
              </a:defRPr>
            </a:pPr>
            <a:r>
              <a:t>identified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528" y="2862072"/>
            <a:ext cx="228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B8862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2084831"/>
            <a:ext cx="3429000" cy="1938528"/>
          </a:xfrm>
          <a:prstGeom prst="round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286000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E0B34A"/>
                </a:solidFill>
                <a:latin typeface="Consolas"/>
              </a:defRPr>
            </a:pPr>
            <a:r>
              <a:t>MONEY APPROVED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651760"/>
            <a:ext cx="29718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SAR 9,800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346703"/>
            <a:ext cx="2971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50" b="0" i="0">
                <a:solidFill>
                  <a:srgbClr val="ECE5D6"/>
                </a:solidFill>
                <a:latin typeface="Arial"/>
              </a:defRPr>
            </a:pPr>
            <a:r>
              <a:t>owner-approved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862072"/>
            <a:ext cx="228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0B6B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084831"/>
            <a:ext cx="3429000" cy="1938528"/>
          </a:xfrm>
          <a:prstGeom prst="round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286000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13A05A"/>
                </a:solidFill>
                <a:latin typeface="Consolas"/>
              </a:defRPr>
            </a:pPr>
            <a:r>
              <a:t>MONEY RECOVERED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651760"/>
            <a:ext cx="29718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SAR 6,400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346703"/>
            <a:ext cx="2971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50" b="0" i="0">
                <a:solidFill>
                  <a:srgbClr val="ECE5D6"/>
                </a:solidFill>
                <a:latin typeface="Arial"/>
              </a:defRPr>
            </a:pPr>
            <a:r>
              <a:t>protected or recovered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617720"/>
            <a:ext cx="10936224" cy="1234440"/>
          </a:xfrm>
          <a:prstGeom prst="roundRect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892040"/>
            <a:ext cx="3017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STOCKOUTS PREVENTED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93792"/>
            <a:ext cx="26517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0A0E0C"/>
                </a:solidFill>
                <a:latin typeface="Georgia"/>
              </a:defRPr>
            </a:pPr>
            <a:r>
              <a:t>3 items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42816" y="4818888"/>
            <a:ext cx="0" cy="832104"/>
          </a:xfrm>
          <a:prstGeom prst="line">
            <a:avLst/>
          </a:prstGeom>
          <a:ln w="12700">
            <a:solidFill>
              <a:srgbClr val="DFD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0" y="4892040"/>
            <a:ext cx="3108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BUSINESS HEALTH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193792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200" b="1" i="0">
                <a:solidFill>
                  <a:srgbClr val="0B6B3A"/>
                </a:solidFill>
                <a:latin typeface="Georgia"/>
              </a:defRPr>
            </a:pPr>
            <a:r>
              <a:t>82 / 100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18120" y="4818888"/>
            <a:ext cx="0" cy="832104"/>
          </a:xfrm>
          <a:prstGeom prst="line">
            <a:avLst/>
          </a:prstGeom>
          <a:ln w="12700">
            <a:solidFill>
              <a:srgbClr val="DFD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138160" y="4892040"/>
            <a:ext cx="3108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TOP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5184648"/>
            <a:ext cx="31546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0A0E0C"/>
                </a:solidFill>
                <a:latin typeface="Georgia"/>
              </a:defRPr>
            </a:pPr>
            <a:r>
              <a:t>Transfer milk before Friday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07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START SMALL, PROVE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14400"/>
            <a:ext cx="98755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 i="0">
                <a:solidFill>
                  <a:srgbClr val="0A0E0C"/>
                </a:solidFill>
                <a:latin typeface="Georgia"/>
              </a:defRPr>
            </a:pPr>
            <a:r>
              <a:t>Simple pricing after we prove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21408"/>
            <a:ext cx="5120640" cy="4069080"/>
          </a:xfrm>
          <a:prstGeom prst="round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423160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E0B34A"/>
                </a:solidFill>
                <a:latin typeface="Consolas"/>
              </a:defRPr>
            </a:pPr>
            <a:r>
              <a:t>STEP 1: FREE MONEY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743200"/>
            <a:ext cx="4297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100" b="1" i="0">
                <a:solidFill>
                  <a:srgbClr val="FFFFFF"/>
                </a:solidFill>
                <a:latin typeface="Georgia"/>
              </a:defRPr>
            </a:pPr>
            <a:r>
              <a:t>SAR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584448"/>
            <a:ext cx="4389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E0B34A"/>
                </a:solidFill>
                <a:latin typeface="Consolas"/>
              </a:defRPr>
            </a:pPr>
            <a:r>
              <a:t>STEP 2: 30-DAY RECOVERY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904487"/>
            <a:ext cx="429768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100" b="1" i="0">
                <a:solidFill>
                  <a:srgbClr val="FFFFFF"/>
                </a:solidFill>
                <a:latin typeface="Georgia"/>
              </a:defRPr>
            </a:pPr>
            <a:r>
              <a:t>SAR 3,000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4773168"/>
            <a:ext cx="4343400" cy="41148"/>
          </a:xfrm>
          <a:prstGeom prst="rect">
            <a:avLst/>
          </a:prstGeom>
          <a:solidFill>
            <a:srgbClr val="E0B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5010912"/>
            <a:ext cx="43891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20" b="0" i="1">
                <a:solidFill>
                  <a:srgbClr val="13A05A"/>
                </a:solidFill>
                <a:latin typeface="Georgia"/>
              </a:defRPr>
            </a:pPr>
            <a:r>
              <a:t>Guarantee: if we do not identify at least SAR 9,000 in recoverable opportunities, we refund the pilot fee.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2121408"/>
            <a:ext cx="5321808" cy="4069080"/>
          </a:xfrm>
          <a:prstGeom prst="roundRect">
            <a:avLst/>
          </a:prstGeom>
          <a:solidFill>
            <a:srgbClr val="ECE5D6"/>
          </a:solidFill>
          <a:ln w="12700">
            <a:solidFill>
              <a:srgbClr val="DFD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423160"/>
            <a:ext cx="4480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686961"/>
                </a:solidFill>
                <a:latin typeface="Consolas"/>
              </a:defRPr>
            </a:pPr>
            <a:r>
              <a:t>STEP 3: ANNUAL PLANS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944368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50" b="1" i="0">
                <a:solidFill>
                  <a:srgbClr val="0A0E0C"/>
                </a:solidFill>
                <a:latin typeface="Georgia"/>
              </a:defRPr>
            </a:pPr>
            <a:r>
              <a:t>Small Retail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264408"/>
            <a:ext cx="2331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50" b="0" i="0">
                <a:solidFill>
                  <a:srgbClr val="686961"/>
                </a:solidFill>
                <a:latin typeface="Arial"/>
              </a:defRPr>
            </a:pPr>
            <a:r>
              <a:t>1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971800"/>
            <a:ext cx="2514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350" b="1" i="0">
                <a:solidFill>
                  <a:srgbClr val="0B6B3A"/>
                </a:solidFill>
                <a:latin typeface="Consolas"/>
              </a:defRPr>
            </a:pPr>
            <a:r>
              <a:t>SAR 6,900/yr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629400" y="3694176"/>
            <a:ext cx="4572000" cy="0"/>
          </a:xfrm>
          <a:prstGeom prst="line">
            <a:avLst/>
          </a:prstGeom>
          <a:ln w="10160">
            <a:solidFill>
              <a:srgbClr val="DFD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629400" y="3950208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50" b="1" i="0">
                <a:solidFill>
                  <a:srgbClr val="0A0E0C"/>
                </a:solidFill>
                <a:latin typeface="Georgia"/>
              </a:defRPr>
            </a:pPr>
            <a:r>
              <a:t>Growing Retail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270248"/>
            <a:ext cx="2331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50" b="0" i="0">
                <a:solidFill>
                  <a:srgbClr val="686961"/>
                </a:solidFill>
                <a:latin typeface="Arial"/>
              </a:defRPr>
            </a:pPr>
            <a:r>
              <a:t>2–5 branches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977640"/>
            <a:ext cx="2514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350" b="1" i="0">
                <a:solidFill>
                  <a:srgbClr val="0B6B3A"/>
                </a:solidFill>
                <a:latin typeface="Consolas"/>
              </a:defRPr>
            </a:pPr>
            <a:r>
              <a:t>SAR 18,000/yr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29400" y="4700016"/>
            <a:ext cx="4572000" cy="0"/>
          </a:xfrm>
          <a:prstGeom prst="line">
            <a:avLst/>
          </a:prstGeom>
          <a:ln w="10160">
            <a:solidFill>
              <a:srgbClr val="DFD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29400" y="4956048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50" b="1" i="0">
                <a:solidFill>
                  <a:srgbClr val="0A0E0C"/>
                </a:solidFill>
                <a:latin typeface="Georgia"/>
              </a:defRPr>
            </a:pPr>
            <a:r>
              <a:t>Large Chains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276088"/>
            <a:ext cx="2331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50" b="0" i="0">
                <a:solidFill>
                  <a:srgbClr val="686961"/>
                </a:solidFill>
                <a:latin typeface="Arial"/>
              </a:defRPr>
            </a:pPr>
            <a:r>
              <a:t>6+ branches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4983480"/>
            <a:ext cx="2514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350" b="1" i="0">
                <a:solidFill>
                  <a:srgbClr val="0B6B3A"/>
                </a:solidFill>
                <a:latin typeface="Consolas"/>
              </a:defRPr>
            </a:pPr>
            <a:r>
              <a:t>Custom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629400" y="5705856"/>
            <a:ext cx="4572000" cy="0"/>
          </a:xfrm>
          <a:prstGeom prst="line">
            <a:avLst/>
          </a:prstGeom>
          <a:ln w="10160">
            <a:solidFill>
              <a:srgbClr val="DFD5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0A0E0C"/>
                </a:solidFill>
                <a:latin typeface="Consolas"/>
              </a:defRPr>
            </a:pPr>
            <a:r>
              <a:t>● NAZMOS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800" b="0" i="0">
                <a:solidFill>
                  <a:srgbClr val="686961"/>
                </a:solidFill>
                <a:latin typeface="Consolas"/>
              </a:defRPr>
            </a:pPr>
            <a:r>
              <a:t>08 / 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667512"/>
            <a:ext cx="274320" cy="0"/>
          </a:xfrm>
          <a:prstGeom prst="line">
            <a:avLst/>
          </a:prstGeom>
          <a:ln w="13970">
            <a:solidFill>
              <a:srgbClr val="686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4128" y="539496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686961"/>
                </a:solidFill>
                <a:latin typeface="Consolas"/>
              </a:defRPr>
            </a:pPr>
            <a:r>
              <a:t>FAQ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14400"/>
            <a:ext cx="96012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500" b="1" i="0">
                <a:solidFill>
                  <a:srgbClr val="0A0E0C"/>
                </a:solidFill>
                <a:latin typeface="Georgia"/>
              </a:defRPr>
            </a:pPr>
            <a:r>
              <a:t>Ready to find your lost cash?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84831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50" b="1" i="0">
                <a:solidFill>
                  <a:srgbClr val="0A0E0C"/>
                </a:solidFill>
                <a:latin typeface="Georgia"/>
              </a:defRPr>
            </a:pPr>
            <a:r>
              <a:t>Do I replace my POS?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95727"/>
            <a:ext cx="4526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 i="0">
                <a:solidFill>
                  <a:srgbClr val="686961"/>
                </a:solidFill>
                <a:latin typeface="Arial"/>
              </a:defRPr>
            </a:pPr>
            <a:r>
              <a:t>No. We work with your exports.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53511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50" b="1" i="0">
                <a:solidFill>
                  <a:srgbClr val="0A0E0C"/>
                </a:solidFill>
                <a:latin typeface="Georgia"/>
              </a:defRPr>
            </a:pPr>
            <a:r>
              <a:t>Do cashiers use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64407"/>
            <a:ext cx="4526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 i="0">
                <a:solidFill>
                  <a:srgbClr val="686961"/>
                </a:solidFill>
                <a:latin typeface="Arial"/>
              </a:defRPr>
            </a:pPr>
            <a:r>
              <a:t>No. Owners/managers get the reports.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22191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50" b="1" i="0">
                <a:solidFill>
                  <a:srgbClr val="0A0E0C"/>
                </a:solidFill>
                <a:latin typeface="Georgia"/>
              </a:defRPr>
            </a:pPr>
            <a:r>
              <a:t>Is data safe?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133087"/>
            <a:ext cx="4526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 i="0">
                <a:solidFill>
                  <a:srgbClr val="686961"/>
                </a:solidFill>
                <a:latin typeface="Arial"/>
              </a:defRPr>
            </a:pPr>
            <a:r>
              <a:t>Yes. No customer names needed.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690872"/>
            <a:ext cx="4526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50" b="1" i="0">
                <a:solidFill>
                  <a:srgbClr val="0A0E0C"/>
                </a:solidFill>
                <a:latin typeface="Georgia"/>
              </a:defRPr>
            </a:pPr>
            <a:r>
              <a:t>Certified ZATCA?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001768"/>
            <a:ext cx="4526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 i="0">
                <a:solidFill>
                  <a:srgbClr val="686961"/>
                </a:solidFill>
                <a:latin typeface="Arial"/>
              </a:defRPr>
            </a:pPr>
            <a:r>
              <a:t>Partner add-on when you need live clearance.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2057400"/>
            <a:ext cx="5532120" cy="3886200"/>
          </a:xfrm>
          <a:prstGeom prst="roundRect">
            <a:avLst/>
          </a:prstGeom>
          <a:solidFill>
            <a:srgbClr val="0A0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2359152"/>
            <a:ext cx="4754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900" b="1" i="0">
                <a:solidFill>
                  <a:srgbClr val="E0B34A"/>
                </a:solidFill>
                <a:latin typeface="Consolas"/>
              </a:defRPr>
            </a:pPr>
            <a:r>
              <a:t>TO START 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2834640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E0B34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2834640"/>
            <a:ext cx="43251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Send your last 90 days sales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3291840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E0B34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3291840"/>
            <a:ext cx="43251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Send your current inventory 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3749039"/>
            <a:ext cx="228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E0B34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3749039"/>
            <a:ext cx="4325112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Get your Free Money Audit in 48 hours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4526280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 i="0">
                <a:solidFill>
                  <a:srgbClr val="ECE5D6"/>
                </a:solidFill>
                <a:latin typeface="Consolas"/>
              </a:defRPr>
            </a:pPr>
            <a:r>
              <a:t>WHATSAPP 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4864608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13A05A"/>
                </a:solidFill>
                <a:latin typeface="Georgia"/>
              </a:defRPr>
            </a:pPr>
            <a:r>
              <a:t>+966 XX XXX XXXX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5532120"/>
            <a:ext cx="4754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350" b="0" i="0">
                <a:solidFill>
                  <a:srgbClr val="ECE5D6"/>
                </a:solidFill>
                <a:latin typeface="Arial"/>
              </a:defRPr>
            </a:pPr>
            <a:r>
              <a:t>نظم — نظام استرجاع أرباح المتجر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