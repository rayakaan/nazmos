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21945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00" b="1" i="0">
                <a:solidFill>
                  <a:srgbClr val="0A0E0C"/>
                </a:solidFill>
                <a:latin typeface="Consolas"/>
              </a:defRPr>
            </a:pPr>
            <a:r>
              <a:t>● NAZMOS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52760" y="201168"/>
            <a:ext cx="10058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800" b="0" i="0">
                <a:solidFill>
                  <a:srgbClr val="686961"/>
                </a:solidFill>
                <a:latin typeface="Consolas"/>
              </a:defRPr>
            </a:pPr>
            <a:r>
              <a:t>01 /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6446520"/>
            <a:ext cx="16916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700" b="0" i="0">
                <a:solidFill>
                  <a:srgbClr val="686961"/>
                </a:solidFill>
                <a:latin typeface="Consolas"/>
              </a:defRPr>
            </a:pPr>
            <a:r>
              <a:t>CLICK 1/3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3175">
            <a:solidFill>
              <a:srgbClr val="E8DE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828800" y="0"/>
            <a:ext cx="0" cy="6858000"/>
          </a:xfrm>
          <a:prstGeom prst="line">
            <a:avLst/>
          </a:prstGeom>
          <a:ln w="3175">
            <a:solidFill>
              <a:srgbClr val="E8DE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743200" y="0"/>
            <a:ext cx="0" cy="6858000"/>
          </a:xfrm>
          <a:prstGeom prst="line">
            <a:avLst/>
          </a:prstGeom>
          <a:ln w="3175">
            <a:solidFill>
              <a:srgbClr val="E8DE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657600" y="0"/>
            <a:ext cx="0" cy="6858000"/>
          </a:xfrm>
          <a:prstGeom prst="line">
            <a:avLst/>
          </a:prstGeom>
          <a:ln w="3175">
            <a:solidFill>
              <a:srgbClr val="E8DE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572000" y="0"/>
            <a:ext cx="0" cy="6858000"/>
          </a:xfrm>
          <a:prstGeom prst="line">
            <a:avLst/>
          </a:prstGeom>
          <a:ln w="3175">
            <a:solidFill>
              <a:srgbClr val="E8DE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486400" y="0"/>
            <a:ext cx="0" cy="6858000"/>
          </a:xfrm>
          <a:prstGeom prst="line">
            <a:avLst/>
          </a:prstGeom>
          <a:ln w="3175">
            <a:solidFill>
              <a:srgbClr val="E8DE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400800" y="0"/>
            <a:ext cx="0" cy="6858000"/>
          </a:xfrm>
          <a:prstGeom prst="line">
            <a:avLst/>
          </a:prstGeom>
          <a:ln w="3175">
            <a:solidFill>
              <a:srgbClr val="E8DE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315200" y="0"/>
            <a:ext cx="0" cy="6858000"/>
          </a:xfrm>
          <a:prstGeom prst="line">
            <a:avLst/>
          </a:prstGeom>
          <a:ln w="3175">
            <a:solidFill>
              <a:srgbClr val="E8DE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3175">
            <a:solidFill>
              <a:srgbClr val="E8DE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144000" y="0"/>
            <a:ext cx="0" cy="6858000"/>
          </a:xfrm>
          <a:prstGeom prst="line">
            <a:avLst/>
          </a:prstGeom>
          <a:ln w="3175">
            <a:solidFill>
              <a:srgbClr val="E8DE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058400" y="0"/>
            <a:ext cx="0" cy="6858000"/>
          </a:xfrm>
          <a:prstGeom prst="line">
            <a:avLst/>
          </a:prstGeom>
          <a:ln w="3175">
            <a:solidFill>
              <a:srgbClr val="E8DE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3175">
            <a:solidFill>
              <a:srgbClr val="E8DE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3175">
            <a:solidFill>
              <a:srgbClr val="E8DE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1828800"/>
            <a:ext cx="12191695" cy="0"/>
          </a:xfrm>
          <a:prstGeom prst="line">
            <a:avLst/>
          </a:prstGeom>
          <a:ln w="3175">
            <a:solidFill>
              <a:srgbClr val="E8DE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2743200"/>
            <a:ext cx="12191695" cy="0"/>
          </a:xfrm>
          <a:prstGeom prst="line">
            <a:avLst/>
          </a:prstGeom>
          <a:ln w="3175">
            <a:solidFill>
              <a:srgbClr val="E8DE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3657600"/>
            <a:ext cx="12191695" cy="0"/>
          </a:xfrm>
          <a:prstGeom prst="line">
            <a:avLst/>
          </a:prstGeom>
          <a:ln w="3175">
            <a:solidFill>
              <a:srgbClr val="E8DE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4572000"/>
            <a:ext cx="12191695" cy="0"/>
          </a:xfrm>
          <a:prstGeom prst="line">
            <a:avLst/>
          </a:prstGeom>
          <a:ln w="3175">
            <a:solidFill>
              <a:srgbClr val="E8DE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3175">
            <a:solidFill>
              <a:srgbClr val="E8DE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6400800"/>
            <a:ext cx="12191695" cy="0"/>
          </a:xfrm>
          <a:prstGeom prst="line">
            <a:avLst/>
          </a:prstGeom>
          <a:ln w="3175">
            <a:solidFill>
              <a:srgbClr val="E8DE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31520" y="502920"/>
            <a:ext cx="384048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3000" b="1" i="0">
                <a:solidFill>
                  <a:srgbClr val="0A0E0C"/>
                </a:solidFill>
                <a:latin typeface="Georgia"/>
              </a:defRPr>
            </a:pPr>
            <a:r>
              <a:t>Nazm·OS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566928"/>
            <a:ext cx="3749039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800" b="1" i="0">
                <a:solidFill>
                  <a:srgbClr val="0A0E0C"/>
                </a:solidFill>
                <a:latin typeface="Arial"/>
              </a:defRPr>
            </a:pPr>
            <a:r>
              <a:t>نظم — نظام استرجاع الأرباح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21945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00" b="1" i="0">
                <a:solidFill>
                  <a:srgbClr val="0A0E0C"/>
                </a:solidFill>
                <a:latin typeface="Consolas"/>
              </a:defRPr>
            </a:pPr>
            <a:r>
              <a:t>● NAZMOS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52760" y="201168"/>
            <a:ext cx="10058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800" b="0" i="0">
                <a:solidFill>
                  <a:srgbClr val="686961"/>
                </a:solidFill>
                <a:latin typeface="Consolas"/>
              </a:defRPr>
            </a:pPr>
            <a:r>
              <a:t>01 /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6446520"/>
            <a:ext cx="16916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700" b="0" i="0">
                <a:solidFill>
                  <a:srgbClr val="686961"/>
                </a:solidFill>
                <a:latin typeface="Consolas"/>
              </a:defRPr>
            </a:pPr>
            <a:r>
              <a:t>CLICK 2/3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3175">
            <a:solidFill>
              <a:srgbClr val="E8DE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828800" y="0"/>
            <a:ext cx="0" cy="6858000"/>
          </a:xfrm>
          <a:prstGeom prst="line">
            <a:avLst/>
          </a:prstGeom>
          <a:ln w="3175">
            <a:solidFill>
              <a:srgbClr val="E8DE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743200" y="0"/>
            <a:ext cx="0" cy="6858000"/>
          </a:xfrm>
          <a:prstGeom prst="line">
            <a:avLst/>
          </a:prstGeom>
          <a:ln w="3175">
            <a:solidFill>
              <a:srgbClr val="E8DE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657600" y="0"/>
            <a:ext cx="0" cy="6858000"/>
          </a:xfrm>
          <a:prstGeom prst="line">
            <a:avLst/>
          </a:prstGeom>
          <a:ln w="3175">
            <a:solidFill>
              <a:srgbClr val="E8DE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572000" y="0"/>
            <a:ext cx="0" cy="6858000"/>
          </a:xfrm>
          <a:prstGeom prst="line">
            <a:avLst/>
          </a:prstGeom>
          <a:ln w="3175">
            <a:solidFill>
              <a:srgbClr val="E8DE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486400" y="0"/>
            <a:ext cx="0" cy="6858000"/>
          </a:xfrm>
          <a:prstGeom prst="line">
            <a:avLst/>
          </a:prstGeom>
          <a:ln w="3175">
            <a:solidFill>
              <a:srgbClr val="E8DE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400800" y="0"/>
            <a:ext cx="0" cy="6858000"/>
          </a:xfrm>
          <a:prstGeom prst="line">
            <a:avLst/>
          </a:prstGeom>
          <a:ln w="3175">
            <a:solidFill>
              <a:srgbClr val="E8DE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315200" y="0"/>
            <a:ext cx="0" cy="6858000"/>
          </a:xfrm>
          <a:prstGeom prst="line">
            <a:avLst/>
          </a:prstGeom>
          <a:ln w="3175">
            <a:solidFill>
              <a:srgbClr val="E8DE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3175">
            <a:solidFill>
              <a:srgbClr val="E8DE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144000" y="0"/>
            <a:ext cx="0" cy="6858000"/>
          </a:xfrm>
          <a:prstGeom prst="line">
            <a:avLst/>
          </a:prstGeom>
          <a:ln w="3175">
            <a:solidFill>
              <a:srgbClr val="E8DE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058400" y="0"/>
            <a:ext cx="0" cy="6858000"/>
          </a:xfrm>
          <a:prstGeom prst="line">
            <a:avLst/>
          </a:prstGeom>
          <a:ln w="3175">
            <a:solidFill>
              <a:srgbClr val="E8DE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3175">
            <a:solidFill>
              <a:srgbClr val="E8DE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3175">
            <a:solidFill>
              <a:srgbClr val="E8DE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1828800"/>
            <a:ext cx="12191695" cy="0"/>
          </a:xfrm>
          <a:prstGeom prst="line">
            <a:avLst/>
          </a:prstGeom>
          <a:ln w="3175">
            <a:solidFill>
              <a:srgbClr val="E8DE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2743200"/>
            <a:ext cx="12191695" cy="0"/>
          </a:xfrm>
          <a:prstGeom prst="line">
            <a:avLst/>
          </a:prstGeom>
          <a:ln w="3175">
            <a:solidFill>
              <a:srgbClr val="E8DE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3657600"/>
            <a:ext cx="12191695" cy="0"/>
          </a:xfrm>
          <a:prstGeom prst="line">
            <a:avLst/>
          </a:prstGeom>
          <a:ln w="3175">
            <a:solidFill>
              <a:srgbClr val="E8DE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4572000"/>
            <a:ext cx="12191695" cy="0"/>
          </a:xfrm>
          <a:prstGeom prst="line">
            <a:avLst/>
          </a:prstGeom>
          <a:ln w="3175">
            <a:solidFill>
              <a:srgbClr val="E8DE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3175">
            <a:solidFill>
              <a:srgbClr val="E8DE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6400800"/>
            <a:ext cx="12191695" cy="0"/>
          </a:xfrm>
          <a:prstGeom prst="line">
            <a:avLst/>
          </a:prstGeom>
          <a:ln w="3175">
            <a:solidFill>
              <a:srgbClr val="E8DE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31520" y="502920"/>
            <a:ext cx="384048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3000" b="1" i="0">
                <a:solidFill>
                  <a:srgbClr val="0A0E0C"/>
                </a:solidFill>
                <a:latin typeface="Georgia"/>
              </a:defRPr>
            </a:pPr>
            <a:r>
              <a:t>Nazm·OS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566928"/>
            <a:ext cx="3749039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800" b="1" i="0">
                <a:solidFill>
                  <a:srgbClr val="0A0E0C"/>
                </a:solidFill>
                <a:latin typeface="Arial"/>
              </a:defRPr>
            </a:pPr>
            <a:r>
              <a:t>نظم — نظام استرجاع الأرباح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1627632"/>
            <a:ext cx="102412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0A0E0C"/>
                </a:solidFill>
                <a:latin typeface="Georgia"/>
              </a:rPr>
              <a:t>Find the </a:t>
            </a:r>
            <a:r>
              <a:rPr sz="5800" b="1" i="1">
                <a:solidFill>
                  <a:srgbClr val="0B6B3A"/>
                </a:solidFill>
                <a:latin typeface="Georgia"/>
              </a:rPr>
              <a:t>cash</a:t>
            </a:r>
            <a:r>
              <a:rPr sz="5800" b="1" i="0">
                <a:solidFill>
                  <a:srgbClr val="0A0E0C"/>
                </a:solidFill>
                <a:latin typeface="Georgia"/>
              </a:rPr>
              <a:t>
trapped inside
your store.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21945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00" b="1" i="0">
                <a:solidFill>
                  <a:srgbClr val="0A0E0C"/>
                </a:solidFill>
                <a:latin typeface="Consolas"/>
              </a:defRPr>
            </a:pPr>
            <a:r>
              <a:t>● NAZMOS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52760" y="201168"/>
            <a:ext cx="10058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800" b="0" i="0">
                <a:solidFill>
                  <a:srgbClr val="686961"/>
                </a:solidFill>
                <a:latin typeface="Consolas"/>
              </a:defRPr>
            </a:pPr>
            <a:r>
              <a:t>01 /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6446520"/>
            <a:ext cx="16916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700" b="0" i="0">
                <a:solidFill>
                  <a:srgbClr val="686961"/>
                </a:solidFill>
                <a:latin typeface="Consolas"/>
              </a:defRPr>
            </a:pPr>
            <a:r>
              <a:t>CLICK 3/3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3175">
            <a:solidFill>
              <a:srgbClr val="E8DE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828800" y="0"/>
            <a:ext cx="0" cy="6858000"/>
          </a:xfrm>
          <a:prstGeom prst="line">
            <a:avLst/>
          </a:prstGeom>
          <a:ln w="3175">
            <a:solidFill>
              <a:srgbClr val="E8DE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743200" y="0"/>
            <a:ext cx="0" cy="6858000"/>
          </a:xfrm>
          <a:prstGeom prst="line">
            <a:avLst/>
          </a:prstGeom>
          <a:ln w="3175">
            <a:solidFill>
              <a:srgbClr val="E8DE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657600" y="0"/>
            <a:ext cx="0" cy="6858000"/>
          </a:xfrm>
          <a:prstGeom prst="line">
            <a:avLst/>
          </a:prstGeom>
          <a:ln w="3175">
            <a:solidFill>
              <a:srgbClr val="E8DE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572000" y="0"/>
            <a:ext cx="0" cy="6858000"/>
          </a:xfrm>
          <a:prstGeom prst="line">
            <a:avLst/>
          </a:prstGeom>
          <a:ln w="3175">
            <a:solidFill>
              <a:srgbClr val="E8DE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486400" y="0"/>
            <a:ext cx="0" cy="6858000"/>
          </a:xfrm>
          <a:prstGeom prst="line">
            <a:avLst/>
          </a:prstGeom>
          <a:ln w="3175">
            <a:solidFill>
              <a:srgbClr val="E8DE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400800" y="0"/>
            <a:ext cx="0" cy="6858000"/>
          </a:xfrm>
          <a:prstGeom prst="line">
            <a:avLst/>
          </a:prstGeom>
          <a:ln w="3175">
            <a:solidFill>
              <a:srgbClr val="E8DE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315200" y="0"/>
            <a:ext cx="0" cy="6858000"/>
          </a:xfrm>
          <a:prstGeom prst="line">
            <a:avLst/>
          </a:prstGeom>
          <a:ln w="3175">
            <a:solidFill>
              <a:srgbClr val="E8DE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3175">
            <a:solidFill>
              <a:srgbClr val="E8DE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144000" y="0"/>
            <a:ext cx="0" cy="6858000"/>
          </a:xfrm>
          <a:prstGeom prst="line">
            <a:avLst/>
          </a:prstGeom>
          <a:ln w="3175">
            <a:solidFill>
              <a:srgbClr val="E8DE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058400" y="0"/>
            <a:ext cx="0" cy="6858000"/>
          </a:xfrm>
          <a:prstGeom prst="line">
            <a:avLst/>
          </a:prstGeom>
          <a:ln w="3175">
            <a:solidFill>
              <a:srgbClr val="E8DE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3175">
            <a:solidFill>
              <a:srgbClr val="E8DE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3175">
            <a:solidFill>
              <a:srgbClr val="E8DE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1828800"/>
            <a:ext cx="12191695" cy="0"/>
          </a:xfrm>
          <a:prstGeom prst="line">
            <a:avLst/>
          </a:prstGeom>
          <a:ln w="3175">
            <a:solidFill>
              <a:srgbClr val="E8DE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2743200"/>
            <a:ext cx="12191695" cy="0"/>
          </a:xfrm>
          <a:prstGeom prst="line">
            <a:avLst/>
          </a:prstGeom>
          <a:ln w="3175">
            <a:solidFill>
              <a:srgbClr val="E8DE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3657600"/>
            <a:ext cx="12191695" cy="0"/>
          </a:xfrm>
          <a:prstGeom prst="line">
            <a:avLst/>
          </a:prstGeom>
          <a:ln w="3175">
            <a:solidFill>
              <a:srgbClr val="E8DE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4572000"/>
            <a:ext cx="12191695" cy="0"/>
          </a:xfrm>
          <a:prstGeom prst="line">
            <a:avLst/>
          </a:prstGeom>
          <a:ln w="3175">
            <a:solidFill>
              <a:srgbClr val="E8DE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3175">
            <a:solidFill>
              <a:srgbClr val="E8DE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6400800"/>
            <a:ext cx="12191695" cy="0"/>
          </a:xfrm>
          <a:prstGeom prst="line">
            <a:avLst/>
          </a:prstGeom>
          <a:ln w="3175">
            <a:solidFill>
              <a:srgbClr val="E8DE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31520" y="502920"/>
            <a:ext cx="384048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3000" b="1" i="0">
                <a:solidFill>
                  <a:srgbClr val="0A0E0C"/>
                </a:solidFill>
                <a:latin typeface="Georgia"/>
              </a:defRPr>
            </a:pPr>
            <a:r>
              <a:t>Nazm·OS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566928"/>
            <a:ext cx="3749039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800" b="1" i="0">
                <a:solidFill>
                  <a:srgbClr val="0A0E0C"/>
                </a:solidFill>
                <a:latin typeface="Arial"/>
              </a:defRPr>
            </a:pPr>
            <a:r>
              <a:t>نظم — نظام استرجاع الأرباح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1627632"/>
            <a:ext cx="102412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0A0E0C"/>
                </a:solidFill>
                <a:latin typeface="Georgia"/>
              </a:rPr>
              <a:t>Find the </a:t>
            </a:r>
            <a:r>
              <a:rPr sz="5800" b="1" i="1">
                <a:solidFill>
                  <a:srgbClr val="0B6B3A"/>
                </a:solidFill>
                <a:latin typeface="Georgia"/>
              </a:rPr>
              <a:t>cash</a:t>
            </a:r>
            <a:r>
              <a:rPr sz="5800" b="1" i="0">
                <a:solidFill>
                  <a:srgbClr val="0A0E0C"/>
                </a:solidFill>
                <a:latin typeface="Georgia"/>
              </a:rPr>
              <a:t>
trapped inside
your store.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458200" y="777240"/>
            <a:ext cx="1828800" cy="310896"/>
          </a:xfrm>
          <a:prstGeom prst="roundRect">
            <a:avLst/>
          </a:prstGeom>
          <a:solidFill>
            <a:srgbClr val="0B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58200" y="818388"/>
            <a:ext cx="182880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defRPr sz="800" b="1" i="0">
                <a:solidFill>
                  <a:srgbClr val="FFFFFF"/>
                </a:solidFill>
                <a:latin typeface="Consolas"/>
              </a:defRPr>
            </a:pPr>
            <a:r>
              <a:t>SAR 43,000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09760" y="1993392"/>
            <a:ext cx="1691640" cy="310896"/>
          </a:xfrm>
          <a:prstGeom prst="roundRect">
            <a:avLst/>
          </a:prstGeom>
          <a:solidFill>
            <a:srgbClr val="B88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09760" y="2034540"/>
            <a:ext cx="169164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defRPr sz="800" b="1" i="0">
                <a:solidFill>
                  <a:srgbClr val="0A0E0C"/>
                </a:solidFill>
                <a:latin typeface="Consolas"/>
              </a:defRPr>
            </a:pPr>
            <a:r>
              <a:t>SAR 12,800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732520" y="3182112"/>
            <a:ext cx="1600200" cy="310896"/>
          </a:xfrm>
          <a:prstGeom prst="roundRect">
            <a:avLst/>
          </a:prstGeom>
          <a:solidFill>
            <a:srgbClr val="C84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32520" y="3223260"/>
            <a:ext cx="160020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defRPr sz="800" b="1" i="0">
                <a:solidFill>
                  <a:srgbClr val="FFFFFF"/>
                </a:solidFill>
                <a:latin typeface="Consolas"/>
              </a:defRPr>
            </a:pPr>
            <a:r>
              <a:t>SAR 8,400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5230368"/>
            <a:ext cx="3566160" cy="50292"/>
          </a:xfrm>
          <a:prstGeom prst="rect">
            <a:avLst/>
          </a:prstGeom>
          <a:solidFill>
            <a:srgbClr val="0B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5394960"/>
            <a:ext cx="813816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350" b="0" i="0">
                <a:solidFill>
                  <a:srgbClr val="0A0E0C"/>
                </a:solidFill>
                <a:latin typeface="Arial"/>
              </a:defRPr>
            </a:pPr>
            <a:r>
              <a:t>Dead stock. Empty shelves. Margin leaks. NazmOS finds them and helps you recover — on WhatsApp.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5989320"/>
            <a:ext cx="2423160" cy="420624"/>
          </a:xfrm>
          <a:prstGeom prst="roundRect">
            <a:avLst/>
          </a:prstGeom>
          <a:solidFill>
            <a:srgbClr val="0B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6030468"/>
            <a:ext cx="2423160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defRPr sz="850" b="1" i="0">
                <a:solidFill>
                  <a:srgbClr val="FFFFFF"/>
                </a:solidFill>
                <a:latin typeface="Consolas"/>
              </a:defRPr>
            </a:pPr>
            <a:r>
              <a:t>GET A FREE MONEY AUDIT →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21945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00" b="1" i="0">
                <a:solidFill>
                  <a:srgbClr val="0A0E0C"/>
                </a:solidFill>
                <a:latin typeface="Consolas"/>
              </a:defRPr>
            </a:pPr>
            <a:r>
              <a:t>● NAZMOS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52760" y="201168"/>
            <a:ext cx="10058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800" b="0" i="0">
                <a:solidFill>
                  <a:srgbClr val="686961"/>
                </a:solidFill>
                <a:latin typeface="Consolas"/>
              </a:defRPr>
            </a:pPr>
            <a:r>
              <a:t>02 /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6446520"/>
            <a:ext cx="16916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700" b="0" i="0">
                <a:solidFill>
                  <a:srgbClr val="686961"/>
                </a:solidFill>
                <a:latin typeface="Consolas"/>
              </a:defRPr>
            </a:pPr>
            <a:r>
              <a:t>CLICK 1/3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667512"/>
            <a:ext cx="274320" cy="0"/>
          </a:xfrm>
          <a:prstGeom prst="line">
            <a:avLst/>
          </a:prstGeom>
          <a:ln w="13970">
            <a:solidFill>
              <a:srgbClr val="6869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24128" y="539496"/>
            <a:ext cx="45720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50" b="1" i="0">
                <a:solidFill>
                  <a:srgbClr val="686961"/>
                </a:solidFill>
                <a:latin typeface="Consolas"/>
              </a:defRPr>
            </a:pPr>
            <a:r>
              <a:t>YOU STAY IN CONTROL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932688"/>
            <a:ext cx="8961120" cy="9144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3400" b="1" i="0">
                <a:solidFill>
                  <a:srgbClr val="0A0E0C"/>
                </a:solidFill>
                <a:latin typeface="Georgia"/>
              </a:defRPr>
            </a:pPr>
            <a:r>
              <a:t>No complicated setup.</a:t>
            </a:r>
          </a:p>
          <a:p>
            <a:pPr algn="l">
              <a:defRPr sz="3400" b="1" i="0">
                <a:solidFill>
                  <a:srgbClr val="0A0E0C"/>
                </a:solidFill>
                <a:latin typeface="Georgia"/>
              </a:defRPr>
            </a:pPr>
            <a:r>
              <a:t>No risk to your data.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21945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00" b="1" i="0">
                <a:solidFill>
                  <a:srgbClr val="0A0E0C"/>
                </a:solidFill>
                <a:latin typeface="Consolas"/>
              </a:defRPr>
            </a:pPr>
            <a:r>
              <a:t>● NAZMOS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52760" y="201168"/>
            <a:ext cx="10058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800" b="0" i="0">
                <a:solidFill>
                  <a:srgbClr val="686961"/>
                </a:solidFill>
                <a:latin typeface="Consolas"/>
              </a:defRPr>
            </a:pPr>
            <a:r>
              <a:t>02 /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6446520"/>
            <a:ext cx="16916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700" b="0" i="0">
                <a:solidFill>
                  <a:srgbClr val="686961"/>
                </a:solidFill>
                <a:latin typeface="Consolas"/>
              </a:defRPr>
            </a:pPr>
            <a:r>
              <a:t>CLICK 2/3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667512"/>
            <a:ext cx="274320" cy="0"/>
          </a:xfrm>
          <a:prstGeom prst="line">
            <a:avLst/>
          </a:prstGeom>
          <a:ln w="13970">
            <a:solidFill>
              <a:srgbClr val="6869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24128" y="539496"/>
            <a:ext cx="45720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50" b="1" i="0">
                <a:solidFill>
                  <a:srgbClr val="686961"/>
                </a:solidFill>
                <a:latin typeface="Consolas"/>
              </a:defRPr>
            </a:pPr>
            <a:r>
              <a:t>YOU STAY IN CONTROL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932688"/>
            <a:ext cx="8961120" cy="9144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3400" b="1" i="0">
                <a:solidFill>
                  <a:srgbClr val="0A0E0C"/>
                </a:solidFill>
                <a:latin typeface="Georgia"/>
              </a:defRPr>
            </a:pPr>
            <a:r>
              <a:t>No complicated setup.</a:t>
            </a:r>
          </a:p>
          <a:p>
            <a:pPr algn="l">
              <a:defRPr sz="3400" b="1" i="0">
                <a:solidFill>
                  <a:srgbClr val="0A0E0C"/>
                </a:solidFill>
                <a:latin typeface="Georgia"/>
              </a:defRPr>
            </a:pPr>
            <a:r>
              <a:t>No risk to your data.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331720"/>
            <a:ext cx="5074920" cy="3429000"/>
          </a:xfrm>
          <a:prstGeom prst="roundRect">
            <a:avLst/>
          </a:prstGeom>
          <a:solidFill>
            <a:srgbClr val="ECE5D6"/>
          </a:solidFill>
          <a:ln w="12700">
            <a:solidFill>
              <a:srgbClr val="DFD5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2596896"/>
            <a:ext cx="42976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1" i="0">
                <a:solidFill>
                  <a:srgbClr val="0A0E0C"/>
                </a:solidFill>
                <a:latin typeface="Georgia"/>
              </a:defRPr>
            </a:pPr>
            <a:r>
              <a:t>What you do NOT need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3063240"/>
            <a:ext cx="2286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300" b="1" i="0">
                <a:solidFill>
                  <a:srgbClr val="0B6B3A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063240"/>
            <a:ext cx="4005072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300" b="0" i="0">
                <a:solidFill>
                  <a:srgbClr val="0A0E0C"/>
                </a:solidFill>
                <a:latin typeface="Arial"/>
              </a:defRPr>
            </a:pPr>
            <a:r>
              <a:t>No POS replacement needed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3483864"/>
            <a:ext cx="2286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300" b="1" i="0">
                <a:solidFill>
                  <a:srgbClr val="0B6B3A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483864"/>
            <a:ext cx="4005072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300" b="0" i="0">
                <a:solidFill>
                  <a:srgbClr val="0A0E0C"/>
                </a:solidFill>
                <a:latin typeface="Arial"/>
              </a:defRPr>
            </a:pPr>
            <a:r>
              <a:t>No customer names required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3904488"/>
            <a:ext cx="2286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300" b="1" i="0">
                <a:solidFill>
                  <a:srgbClr val="0B6B3A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904488"/>
            <a:ext cx="4005072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300" b="0" i="0">
                <a:solidFill>
                  <a:srgbClr val="0A0E0C"/>
                </a:solidFill>
                <a:latin typeface="Arial"/>
              </a:defRPr>
            </a:pPr>
            <a:r>
              <a:t>You can remove sensitive details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4325112"/>
            <a:ext cx="2286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300" b="1" i="0">
                <a:solidFill>
                  <a:srgbClr val="0B6B3A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4325112"/>
            <a:ext cx="4005072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300" b="0" i="0">
                <a:solidFill>
                  <a:srgbClr val="0A0E0C"/>
                </a:solidFill>
                <a:latin typeface="Arial"/>
              </a:defRPr>
            </a:pPr>
            <a:r>
              <a:t>Works with your accountant — does not replace them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" y="4745736"/>
            <a:ext cx="2286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300" b="1" i="0">
                <a:solidFill>
                  <a:srgbClr val="0B6B3A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745736"/>
            <a:ext cx="4005072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300" b="0" i="0">
                <a:solidFill>
                  <a:srgbClr val="0A0E0C"/>
                </a:solidFill>
                <a:latin typeface="Arial"/>
              </a:defRPr>
            </a:pPr>
            <a:r>
              <a:t>No cashiers need to learn new software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21945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00" b="1" i="0">
                <a:solidFill>
                  <a:srgbClr val="0A0E0C"/>
                </a:solidFill>
                <a:latin typeface="Consolas"/>
              </a:defRPr>
            </a:pPr>
            <a:r>
              <a:t>● NAZMOS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52760" y="201168"/>
            <a:ext cx="10058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800" b="0" i="0">
                <a:solidFill>
                  <a:srgbClr val="686961"/>
                </a:solidFill>
                <a:latin typeface="Consolas"/>
              </a:defRPr>
            </a:pPr>
            <a:r>
              <a:t>02 /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6446520"/>
            <a:ext cx="16916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700" b="0" i="0">
                <a:solidFill>
                  <a:srgbClr val="686961"/>
                </a:solidFill>
                <a:latin typeface="Consolas"/>
              </a:defRPr>
            </a:pPr>
            <a:r>
              <a:t>CLICK 3/3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667512"/>
            <a:ext cx="274320" cy="0"/>
          </a:xfrm>
          <a:prstGeom prst="line">
            <a:avLst/>
          </a:prstGeom>
          <a:ln w="13970">
            <a:solidFill>
              <a:srgbClr val="6869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24128" y="539496"/>
            <a:ext cx="45720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50" b="1" i="0">
                <a:solidFill>
                  <a:srgbClr val="686961"/>
                </a:solidFill>
                <a:latin typeface="Consolas"/>
              </a:defRPr>
            </a:pPr>
            <a:r>
              <a:t>YOU STAY IN CONTROL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932688"/>
            <a:ext cx="8961120" cy="9144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3400" b="1" i="0">
                <a:solidFill>
                  <a:srgbClr val="0A0E0C"/>
                </a:solidFill>
                <a:latin typeface="Georgia"/>
              </a:defRPr>
            </a:pPr>
            <a:r>
              <a:t>No complicated setup.</a:t>
            </a:r>
          </a:p>
          <a:p>
            <a:pPr algn="l">
              <a:defRPr sz="3400" b="1" i="0">
                <a:solidFill>
                  <a:srgbClr val="0A0E0C"/>
                </a:solidFill>
                <a:latin typeface="Georgia"/>
              </a:defRPr>
            </a:pPr>
            <a:r>
              <a:t>No risk to your data.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331720"/>
            <a:ext cx="5074920" cy="3429000"/>
          </a:xfrm>
          <a:prstGeom prst="roundRect">
            <a:avLst/>
          </a:prstGeom>
          <a:solidFill>
            <a:srgbClr val="ECE5D6"/>
          </a:solidFill>
          <a:ln w="12700">
            <a:solidFill>
              <a:srgbClr val="DFD5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2596896"/>
            <a:ext cx="42976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1" i="0">
                <a:solidFill>
                  <a:srgbClr val="0A0E0C"/>
                </a:solidFill>
                <a:latin typeface="Georgia"/>
              </a:defRPr>
            </a:pPr>
            <a:r>
              <a:t>What you do NOT need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3063240"/>
            <a:ext cx="2286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300" b="1" i="0">
                <a:solidFill>
                  <a:srgbClr val="0B6B3A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063240"/>
            <a:ext cx="4005072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300" b="0" i="0">
                <a:solidFill>
                  <a:srgbClr val="0A0E0C"/>
                </a:solidFill>
                <a:latin typeface="Arial"/>
              </a:defRPr>
            </a:pPr>
            <a:r>
              <a:t>No POS replacement needed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3483864"/>
            <a:ext cx="2286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300" b="1" i="0">
                <a:solidFill>
                  <a:srgbClr val="0B6B3A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483864"/>
            <a:ext cx="4005072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300" b="0" i="0">
                <a:solidFill>
                  <a:srgbClr val="0A0E0C"/>
                </a:solidFill>
                <a:latin typeface="Arial"/>
              </a:defRPr>
            </a:pPr>
            <a:r>
              <a:t>No customer names required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3904488"/>
            <a:ext cx="2286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300" b="1" i="0">
                <a:solidFill>
                  <a:srgbClr val="0B6B3A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904488"/>
            <a:ext cx="4005072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300" b="0" i="0">
                <a:solidFill>
                  <a:srgbClr val="0A0E0C"/>
                </a:solidFill>
                <a:latin typeface="Arial"/>
              </a:defRPr>
            </a:pPr>
            <a:r>
              <a:t>You can remove sensitive details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4325112"/>
            <a:ext cx="2286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300" b="1" i="0">
                <a:solidFill>
                  <a:srgbClr val="0B6B3A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4325112"/>
            <a:ext cx="4005072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300" b="0" i="0">
                <a:solidFill>
                  <a:srgbClr val="0A0E0C"/>
                </a:solidFill>
                <a:latin typeface="Arial"/>
              </a:defRPr>
            </a:pPr>
            <a:r>
              <a:t>Works with your accountant — does not replace them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" y="4745736"/>
            <a:ext cx="2286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300" b="1" i="0">
                <a:solidFill>
                  <a:srgbClr val="0B6B3A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745736"/>
            <a:ext cx="4005072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300" b="0" i="0">
                <a:solidFill>
                  <a:srgbClr val="0A0E0C"/>
                </a:solidFill>
                <a:latin typeface="Arial"/>
              </a:defRPr>
            </a:pPr>
            <a:r>
              <a:t>No cashiers need to learn new software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2331720"/>
            <a:ext cx="5166360" cy="3429000"/>
          </a:xfrm>
          <a:prstGeom prst="roundRect">
            <a:avLst/>
          </a:prstGeom>
          <a:solidFill>
            <a:srgbClr val="0A0E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56832" y="2606040"/>
            <a:ext cx="43891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00" b="1" i="0">
                <a:solidFill>
                  <a:srgbClr val="E0B34A"/>
                </a:solidFill>
                <a:latin typeface="Consolas"/>
              </a:defRPr>
            </a:pPr>
            <a:r>
              <a:t>TO START, SEND 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56832" y="3063240"/>
            <a:ext cx="4389120" cy="10972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Georgia"/>
              </a:defRPr>
            </a:pPr>
            <a:r>
              <a:t>1. Last 90 days sales export</a:t>
            </a:r>
          </a:p>
          <a:p>
            <a:pPr algn="l">
              <a:defRPr sz="1800" b="1" i="0">
                <a:solidFill>
                  <a:srgbClr val="FFFFFF"/>
                </a:solidFill>
                <a:latin typeface="Georgia"/>
              </a:defRPr>
            </a:pPr>
            <a:r>
              <a:t>2. Current inventory export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56832" y="4251960"/>
            <a:ext cx="438912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00" b="0" i="0">
                <a:solidFill>
                  <a:srgbClr val="ECE5D6"/>
                </a:solidFill>
                <a:latin typeface="Arial"/>
              </a:defRPr>
            </a:pPr>
            <a:r>
              <a:t>Excel, CSV, or POS export is fine.</a:t>
            </a:r>
          </a:p>
          <a:p>
            <a:pPr algn="l">
              <a:defRPr sz="1200" b="0" i="0">
                <a:solidFill>
                  <a:srgbClr val="ECE5D6"/>
                </a:solidFill>
                <a:latin typeface="Arial"/>
              </a:defRPr>
            </a:pPr>
            <a:r>
              <a:t>No customer names needed.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56832" y="5138928"/>
            <a:ext cx="4434840" cy="41148"/>
          </a:xfrm>
          <a:prstGeom prst="rect">
            <a:avLst/>
          </a:prstGeom>
          <a:solidFill>
            <a:srgbClr val="E0B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56832" y="5303520"/>
            <a:ext cx="438912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1" i="1">
                <a:solidFill>
                  <a:srgbClr val="13A05A"/>
                </a:solidFill>
                <a:latin typeface="Georgia"/>
              </a:defRPr>
            </a:pPr>
            <a:r>
              <a:t>Get your Money Audit in 48 hours.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21945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00" b="1" i="0">
                <a:solidFill>
                  <a:srgbClr val="0A0E0C"/>
                </a:solidFill>
                <a:latin typeface="Consolas"/>
              </a:defRPr>
            </a:pPr>
            <a:r>
              <a:t>● NAZMOS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52760" y="201168"/>
            <a:ext cx="10058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800" b="0" i="0">
                <a:solidFill>
                  <a:srgbClr val="686961"/>
                </a:solidFill>
                <a:latin typeface="Consolas"/>
              </a:defRPr>
            </a:pPr>
            <a:r>
              <a:t>03 /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6446520"/>
            <a:ext cx="16916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700" b="0" i="0">
                <a:solidFill>
                  <a:srgbClr val="686961"/>
                </a:solidFill>
                <a:latin typeface="Consolas"/>
              </a:defRPr>
            </a:pPr>
            <a:r>
              <a:t>CLICK 1/3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667512"/>
            <a:ext cx="274320" cy="0"/>
          </a:xfrm>
          <a:prstGeom prst="line">
            <a:avLst/>
          </a:prstGeom>
          <a:ln w="13970">
            <a:solidFill>
              <a:srgbClr val="6869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24128" y="539496"/>
            <a:ext cx="45720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50" b="1" i="0">
                <a:solidFill>
                  <a:srgbClr val="686961"/>
                </a:solidFill>
                <a:latin typeface="Consolas"/>
              </a:defRPr>
            </a:pPr>
            <a:r>
              <a:t>YOUR FIRST 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914400"/>
            <a:ext cx="813816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3600" b="1" i="0">
                <a:solidFill>
                  <a:srgbClr val="0A0E0C"/>
                </a:solidFill>
                <a:latin typeface="Georgia"/>
              </a:defRPr>
            </a:pPr>
            <a:r>
              <a:t>The NazmOS Money Audit.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627632"/>
            <a:ext cx="1508760" cy="292608"/>
          </a:xfrm>
          <a:prstGeom prst="roundRect">
            <a:avLst/>
          </a:prstGeom>
          <a:solidFill>
            <a:srgbClr val="C84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668780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defRPr sz="750" b="1" i="0">
                <a:solidFill>
                  <a:srgbClr val="FFFFFF"/>
                </a:solidFill>
                <a:latin typeface="Consolas"/>
              </a:defRPr>
            </a:pPr>
            <a:r>
              <a:t>SAMPLE REPORT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212848"/>
            <a:ext cx="5074920" cy="3950208"/>
          </a:xfrm>
          <a:prstGeom prst="roundRect">
            <a:avLst/>
          </a:prstGeom>
          <a:solidFill>
            <a:srgbClr val="0A0E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2514600"/>
            <a:ext cx="42976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000" b="1" i="0">
                <a:solidFill>
                  <a:srgbClr val="C8412A"/>
                </a:solidFill>
                <a:latin typeface="Consolas"/>
              </a:defRPr>
            </a:pPr>
            <a:r>
              <a:t>MONEY AT RISK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907792"/>
            <a:ext cx="4526280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4200" b="1" i="0">
                <a:solidFill>
                  <a:srgbClr val="FFFFFF"/>
                </a:solidFill>
                <a:latin typeface="Georgia"/>
              </a:defRPr>
            </a:pPr>
            <a:r>
              <a:t>SAR 143,000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5" y="3776472"/>
            <a:ext cx="43891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0" i="0">
                <a:solidFill>
                  <a:srgbClr val="ECE5D6"/>
                </a:solidFill>
                <a:latin typeface="Arial"/>
              </a:defRPr>
            </a:pPr>
            <a:r>
              <a:t>per year · potential recovery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21945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00" b="1" i="0">
                <a:solidFill>
                  <a:srgbClr val="0A0E0C"/>
                </a:solidFill>
                <a:latin typeface="Consolas"/>
              </a:defRPr>
            </a:pPr>
            <a:r>
              <a:t>● NAZMOS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52760" y="201168"/>
            <a:ext cx="10058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800" b="0" i="0">
                <a:solidFill>
                  <a:srgbClr val="686961"/>
                </a:solidFill>
                <a:latin typeface="Consolas"/>
              </a:defRPr>
            </a:pPr>
            <a:r>
              <a:t>03 /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6446520"/>
            <a:ext cx="16916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700" b="0" i="0">
                <a:solidFill>
                  <a:srgbClr val="686961"/>
                </a:solidFill>
                <a:latin typeface="Consolas"/>
              </a:defRPr>
            </a:pPr>
            <a:r>
              <a:t>CLICK 2/3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667512"/>
            <a:ext cx="274320" cy="0"/>
          </a:xfrm>
          <a:prstGeom prst="line">
            <a:avLst/>
          </a:prstGeom>
          <a:ln w="13970">
            <a:solidFill>
              <a:srgbClr val="6869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24128" y="539496"/>
            <a:ext cx="45720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50" b="1" i="0">
                <a:solidFill>
                  <a:srgbClr val="686961"/>
                </a:solidFill>
                <a:latin typeface="Consolas"/>
              </a:defRPr>
            </a:pPr>
            <a:r>
              <a:t>YOUR FIRST 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914400"/>
            <a:ext cx="813816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3600" b="1" i="0">
                <a:solidFill>
                  <a:srgbClr val="0A0E0C"/>
                </a:solidFill>
                <a:latin typeface="Georgia"/>
              </a:defRPr>
            </a:pPr>
            <a:r>
              <a:t>The NazmOS Money Audit.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627632"/>
            <a:ext cx="1508760" cy="292608"/>
          </a:xfrm>
          <a:prstGeom prst="roundRect">
            <a:avLst/>
          </a:prstGeom>
          <a:solidFill>
            <a:srgbClr val="C84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668780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defRPr sz="750" b="1" i="0">
                <a:solidFill>
                  <a:srgbClr val="FFFFFF"/>
                </a:solidFill>
                <a:latin typeface="Consolas"/>
              </a:defRPr>
            </a:pPr>
            <a:r>
              <a:t>SAMPLE REPORT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212848"/>
            <a:ext cx="5074920" cy="3950208"/>
          </a:xfrm>
          <a:prstGeom prst="roundRect">
            <a:avLst/>
          </a:prstGeom>
          <a:solidFill>
            <a:srgbClr val="0A0E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2514600"/>
            <a:ext cx="42976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000" b="1" i="0">
                <a:solidFill>
                  <a:srgbClr val="C8412A"/>
                </a:solidFill>
                <a:latin typeface="Consolas"/>
              </a:defRPr>
            </a:pPr>
            <a:r>
              <a:t>MONEY AT RISK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907792"/>
            <a:ext cx="4526280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4200" b="1" i="0">
                <a:solidFill>
                  <a:srgbClr val="FFFFFF"/>
                </a:solidFill>
                <a:latin typeface="Georgia"/>
              </a:defRPr>
            </a:pPr>
            <a:r>
              <a:t>SAR 143,000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5" y="3776472"/>
            <a:ext cx="43891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0" i="0">
                <a:solidFill>
                  <a:srgbClr val="ECE5D6"/>
                </a:solidFill>
                <a:latin typeface="Arial"/>
              </a:defRPr>
            </a:pPr>
            <a:r>
              <a:t>per year · potential recovery</a:t>
            </a:r>
          </a:p>
        </p:txBody>
      </p:sp>
      <p:sp>
        <p:nvSpPr>
          <p:cNvPr id="14" name="Oval 13"/>
          <p:cNvSpPr/>
          <p:nvPr/>
        </p:nvSpPr>
        <p:spPr>
          <a:xfrm>
            <a:off x="6419088" y="2514600"/>
            <a:ext cx="411480" cy="411480"/>
          </a:xfrm>
          <a:prstGeom prst="ellipse">
            <a:avLst/>
          </a:prstGeom>
          <a:solidFill>
            <a:srgbClr val="ECE5D6"/>
          </a:solidFill>
          <a:ln w="12700">
            <a:solidFill>
              <a:srgbClr val="DFD5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2564892"/>
            <a:ext cx="4114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900" b="1" i="0">
                <a:solidFill>
                  <a:srgbClr val="C8412A"/>
                </a:solidFill>
                <a:latin typeface="Consolas"/>
              </a:defRPr>
            </a:pPr>
            <a:r>
              <a:t>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13448" y="2551176"/>
            <a:ext cx="33832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50" b="0" i="0">
                <a:solidFill>
                  <a:srgbClr val="0A0E0C"/>
                </a:solidFill>
                <a:latin typeface="Arial"/>
              </a:defRPr>
            </a:pPr>
            <a:r>
              <a:t>Cash trapped in dead stock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13848" y="2551176"/>
            <a:ext cx="16002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250" b="1" i="0">
                <a:solidFill>
                  <a:srgbClr val="0A0E0C"/>
                </a:solidFill>
                <a:latin typeface="Consolas"/>
              </a:defRPr>
            </a:pPr>
            <a:r>
              <a:t>SAR 61,000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400800" y="3081528"/>
            <a:ext cx="4956048" cy="0"/>
          </a:xfrm>
          <a:prstGeom prst="line">
            <a:avLst/>
          </a:prstGeom>
          <a:ln w="8890">
            <a:solidFill>
              <a:srgbClr val="DFD5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6419088" y="3291840"/>
            <a:ext cx="411480" cy="411480"/>
          </a:xfrm>
          <a:prstGeom prst="ellipse">
            <a:avLst/>
          </a:prstGeom>
          <a:solidFill>
            <a:srgbClr val="ECE5D6"/>
          </a:solidFill>
          <a:ln w="12700">
            <a:solidFill>
              <a:srgbClr val="DFD5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9088" y="3342132"/>
            <a:ext cx="4114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900" b="1" i="0">
                <a:solidFill>
                  <a:srgbClr val="B8862E"/>
                </a:solidFill>
                <a:latin typeface="Consolas"/>
              </a:defRPr>
            </a:pPr>
            <a:r>
              <a:t>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13448" y="3328416"/>
            <a:ext cx="33832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50" b="0" i="0">
                <a:solidFill>
                  <a:srgbClr val="0A0E0C"/>
                </a:solidFill>
                <a:latin typeface="Arial"/>
              </a:defRPr>
            </a:pPr>
            <a:r>
              <a:t>Margin recovery opportunity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13848" y="3328416"/>
            <a:ext cx="16002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250" b="1" i="0">
                <a:solidFill>
                  <a:srgbClr val="0A0E0C"/>
                </a:solidFill>
                <a:latin typeface="Consolas"/>
              </a:defRPr>
            </a:pPr>
            <a:r>
              <a:t>SAR 18,000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400800" y="3858768"/>
            <a:ext cx="4956048" cy="0"/>
          </a:xfrm>
          <a:prstGeom prst="line">
            <a:avLst/>
          </a:prstGeom>
          <a:ln w="8890">
            <a:solidFill>
              <a:srgbClr val="DFD5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6419088" y="4069080"/>
            <a:ext cx="411480" cy="411480"/>
          </a:xfrm>
          <a:prstGeom prst="ellipse">
            <a:avLst/>
          </a:prstGeom>
          <a:solidFill>
            <a:srgbClr val="ECE5D6"/>
          </a:solidFill>
          <a:ln w="12700">
            <a:solidFill>
              <a:srgbClr val="DFD5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19088" y="4119372"/>
            <a:ext cx="4114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900" b="1" i="0">
                <a:solidFill>
                  <a:srgbClr val="0B6B3A"/>
                </a:solidFill>
                <a:latin typeface="Consolas"/>
              </a:defRPr>
            </a:pPr>
            <a:r>
              <a:t>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13448" y="4105656"/>
            <a:ext cx="33832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50" b="0" i="0">
                <a:solidFill>
                  <a:srgbClr val="0A0E0C"/>
                </a:solidFill>
                <a:latin typeface="Arial"/>
              </a:defRPr>
            </a:pPr>
            <a:r>
              <a:t>Inventory transfer opportunity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13848" y="4105656"/>
            <a:ext cx="16002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250" b="1" i="0">
                <a:solidFill>
                  <a:srgbClr val="0A0E0C"/>
                </a:solidFill>
                <a:latin typeface="Consolas"/>
              </a:defRPr>
            </a:pPr>
            <a:r>
              <a:t>SAR 9,200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400800" y="4636008"/>
            <a:ext cx="4956048" cy="0"/>
          </a:xfrm>
          <a:prstGeom prst="line">
            <a:avLst/>
          </a:prstGeom>
          <a:ln w="8890">
            <a:solidFill>
              <a:srgbClr val="DFD5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6419088" y="4846320"/>
            <a:ext cx="411480" cy="411480"/>
          </a:xfrm>
          <a:prstGeom prst="ellipse">
            <a:avLst/>
          </a:prstGeom>
          <a:solidFill>
            <a:srgbClr val="ECE5D6"/>
          </a:solidFill>
          <a:ln w="12700">
            <a:solidFill>
              <a:srgbClr val="DFD5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19088" y="4896612"/>
            <a:ext cx="4114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900" b="1" i="0">
                <a:solidFill>
                  <a:srgbClr val="C8412A"/>
                </a:solidFill>
                <a:latin typeface="Consolas"/>
              </a:defRPr>
            </a:pPr>
            <a:r>
              <a:t>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13448" y="4882896"/>
            <a:ext cx="33832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50" b="0" i="0">
                <a:solidFill>
                  <a:srgbClr val="0A0E0C"/>
                </a:solidFill>
                <a:latin typeface="Arial"/>
              </a:defRPr>
            </a:pPr>
            <a:r>
              <a:t>Stockouts expected this week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13848" y="4882896"/>
            <a:ext cx="16002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250" b="1" i="0">
                <a:solidFill>
                  <a:srgbClr val="0A0E0C"/>
                </a:solidFill>
                <a:latin typeface="Consolas"/>
              </a:defRPr>
            </a:pPr>
            <a:r>
              <a:t>7 items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400800" y="5413248"/>
            <a:ext cx="4956048" cy="0"/>
          </a:xfrm>
          <a:prstGeom prst="line">
            <a:avLst/>
          </a:prstGeom>
          <a:ln w="8890">
            <a:solidFill>
              <a:srgbClr val="DFD5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21945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00" b="1" i="0">
                <a:solidFill>
                  <a:srgbClr val="0A0E0C"/>
                </a:solidFill>
                <a:latin typeface="Consolas"/>
              </a:defRPr>
            </a:pPr>
            <a:r>
              <a:t>● NAZMOS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52760" y="201168"/>
            <a:ext cx="10058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800" b="0" i="0">
                <a:solidFill>
                  <a:srgbClr val="686961"/>
                </a:solidFill>
                <a:latin typeface="Consolas"/>
              </a:defRPr>
            </a:pPr>
            <a:r>
              <a:t>03 /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6446520"/>
            <a:ext cx="16916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700" b="0" i="0">
                <a:solidFill>
                  <a:srgbClr val="686961"/>
                </a:solidFill>
                <a:latin typeface="Consolas"/>
              </a:defRPr>
            </a:pPr>
            <a:r>
              <a:t>CLICK 3/3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667512"/>
            <a:ext cx="274320" cy="0"/>
          </a:xfrm>
          <a:prstGeom prst="line">
            <a:avLst/>
          </a:prstGeom>
          <a:ln w="13970">
            <a:solidFill>
              <a:srgbClr val="6869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24128" y="539496"/>
            <a:ext cx="45720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50" b="1" i="0">
                <a:solidFill>
                  <a:srgbClr val="686961"/>
                </a:solidFill>
                <a:latin typeface="Consolas"/>
              </a:defRPr>
            </a:pPr>
            <a:r>
              <a:t>YOUR FIRST 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914400"/>
            <a:ext cx="813816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3600" b="1" i="0">
                <a:solidFill>
                  <a:srgbClr val="0A0E0C"/>
                </a:solidFill>
                <a:latin typeface="Georgia"/>
              </a:defRPr>
            </a:pPr>
            <a:r>
              <a:t>The NazmOS Money Audit.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627632"/>
            <a:ext cx="1508760" cy="292608"/>
          </a:xfrm>
          <a:prstGeom prst="roundRect">
            <a:avLst/>
          </a:prstGeom>
          <a:solidFill>
            <a:srgbClr val="C84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668780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defRPr sz="750" b="1" i="0">
                <a:solidFill>
                  <a:srgbClr val="FFFFFF"/>
                </a:solidFill>
                <a:latin typeface="Consolas"/>
              </a:defRPr>
            </a:pPr>
            <a:r>
              <a:t>SAMPLE REPORT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212848"/>
            <a:ext cx="5074920" cy="3950208"/>
          </a:xfrm>
          <a:prstGeom prst="roundRect">
            <a:avLst/>
          </a:prstGeom>
          <a:solidFill>
            <a:srgbClr val="0A0E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2514600"/>
            <a:ext cx="42976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000" b="1" i="0">
                <a:solidFill>
                  <a:srgbClr val="C8412A"/>
                </a:solidFill>
                <a:latin typeface="Consolas"/>
              </a:defRPr>
            </a:pPr>
            <a:r>
              <a:t>MONEY AT RISK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907792"/>
            <a:ext cx="4526280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4200" b="1" i="0">
                <a:solidFill>
                  <a:srgbClr val="FFFFFF"/>
                </a:solidFill>
                <a:latin typeface="Georgia"/>
              </a:defRPr>
            </a:pPr>
            <a:r>
              <a:t>SAR 143,000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5" y="3776472"/>
            <a:ext cx="43891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0" i="0">
                <a:solidFill>
                  <a:srgbClr val="ECE5D6"/>
                </a:solidFill>
                <a:latin typeface="Arial"/>
              </a:defRPr>
            </a:pPr>
            <a:r>
              <a:t>per year · potential recovery</a:t>
            </a:r>
          </a:p>
        </p:txBody>
      </p:sp>
      <p:sp>
        <p:nvSpPr>
          <p:cNvPr id="14" name="Oval 13"/>
          <p:cNvSpPr/>
          <p:nvPr/>
        </p:nvSpPr>
        <p:spPr>
          <a:xfrm>
            <a:off x="6419088" y="2514600"/>
            <a:ext cx="411480" cy="411480"/>
          </a:xfrm>
          <a:prstGeom prst="ellipse">
            <a:avLst/>
          </a:prstGeom>
          <a:solidFill>
            <a:srgbClr val="ECE5D6"/>
          </a:solidFill>
          <a:ln w="12700">
            <a:solidFill>
              <a:srgbClr val="DFD5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2564892"/>
            <a:ext cx="4114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900" b="1" i="0">
                <a:solidFill>
                  <a:srgbClr val="C8412A"/>
                </a:solidFill>
                <a:latin typeface="Consolas"/>
              </a:defRPr>
            </a:pPr>
            <a:r>
              <a:t>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13448" y="2551176"/>
            <a:ext cx="33832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50" b="0" i="0">
                <a:solidFill>
                  <a:srgbClr val="0A0E0C"/>
                </a:solidFill>
                <a:latin typeface="Arial"/>
              </a:defRPr>
            </a:pPr>
            <a:r>
              <a:t>Cash trapped in dead stock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13848" y="2551176"/>
            <a:ext cx="16002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250" b="1" i="0">
                <a:solidFill>
                  <a:srgbClr val="0A0E0C"/>
                </a:solidFill>
                <a:latin typeface="Consolas"/>
              </a:defRPr>
            </a:pPr>
            <a:r>
              <a:t>SAR 61,000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400800" y="3081528"/>
            <a:ext cx="4956048" cy="0"/>
          </a:xfrm>
          <a:prstGeom prst="line">
            <a:avLst/>
          </a:prstGeom>
          <a:ln w="8890">
            <a:solidFill>
              <a:srgbClr val="DFD5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6419088" y="3291840"/>
            <a:ext cx="411480" cy="411480"/>
          </a:xfrm>
          <a:prstGeom prst="ellipse">
            <a:avLst/>
          </a:prstGeom>
          <a:solidFill>
            <a:srgbClr val="ECE5D6"/>
          </a:solidFill>
          <a:ln w="12700">
            <a:solidFill>
              <a:srgbClr val="DFD5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9088" y="3342132"/>
            <a:ext cx="4114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900" b="1" i="0">
                <a:solidFill>
                  <a:srgbClr val="B8862E"/>
                </a:solidFill>
                <a:latin typeface="Consolas"/>
              </a:defRPr>
            </a:pPr>
            <a:r>
              <a:t>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13448" y="3328416"/>
            <a:ext cx="33832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50" b="0" i="0">
                <a:solidFill>
                  <a:srgbClr val="0A0E0C"/>
                </a:solidFill>
                <a:latin typeface="Arial"/>
              </a:defRPr>
            </a:pPr>
            <a:r>
              <a:t>Margin recovery opportunity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13848" y="3328416"/>
            <a:ext cx="16002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250" b="1" i="0">
                <a:solidFill>
                  <a:srgbClr val="0A0E0C"/>
                </a:solidFill>
                <a:latin typeface="Consolas"/>
              </a:defRPr>
            </a:pPr>
            <a:r>
              <a:t>SAR 18,000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400800" y="3858768"/>
            <a:ext cx="4956048" cy="0"/>
          </a:xfrm>
          <a:prstGeom prst="line">
            <a:avLst/>
          </a:prstGeom>
          <a:ln w="8890">
            <a:solidFill>
              <a:srgbClr val="DFD5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6419088" y="4069080"/>
            <a:ext cx="411480" cy="411480"/>
          </a:xfrm>
          <a:prstGeom prst="ellipse">
            <a:avLst/>
          </a:prstGeom>
          <a:solidFill>
            <a:srgbClr val="ECE5D6"/>
          </a:solidFill>
          <a:ln w="12700">
            <a:solidFill>
              <a:srgbClr val="DFD5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19088" y="4119372"/>
            <a:ext cx="4114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900" b="1" i="0">
                <a:solidFill>
                  <a:srgbClr val="0B6B3A"/>
                </a:solidFill>
                <a:latin typeface="Consolas"/>
              </a:defRPr>
            </a:pPr>
            <a:r>
              <a:t>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13448" y="4105656"/>
            <a:ext cx="33832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50" b="0" i="0">
                <a:solidFill>
                  <a:srgbClr val="0A0E0C"/>
                </a:solidFill>
                <a:latin typeface="Arial"/>
              </a:defRPr>
            </a:pPr>
            <a:r>
              <a:t>Inventory transfer opportunity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13848" y="4105656"/>
            <a:ext cx="16002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250" b="1" i="0">
                <a:solidFill>
                  <a:srgbClr val="0A0E0C"/>
                </a:solidFill>
                <a:latin typeface="Consolas"/>
              </a:defRPr>
            </a:pPr>
            <a:r>
              <a:t>SAR 9,200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400800" y="4636008"/>
            <a:ext cx="4956048" cy="0"/>
          </a:xfrm>
          <a:prstGeom prst="line">
            <a:avLst/>
          </a:prstGeom>
          <a:ln w="8890">
            <a:solidFill>
              <a:srgbClr val="DFD5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6419088" y="4846320"/>
            <a:ext cx="411480" cy="411480"/>
          </a:xfrm>
          <a:prstGeom prst="ellipse">
            <a:avLst/>
          </a:prstGeom>
          <a:solidFill>
            <a:srgbClr val="ECE5D6"/>
          </a:solidFill>
          <a:ln w="12700">
            <a:solidFill>
              <a:srgbClr val="DFD5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19088" y="4896612"/>
            <a:ext cx="4114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900" b="1" i="0">
                <a:solidFill>
                  <a:srgbClr val="C8412A"/>
                </a:solidFill>
                <a:latin typeface="Consolas"/>
              </a:defRPr>
            </a:pPr>
            <a:r>
              <a:t>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13448" y="4882896"/>
            <a:ext cx="33832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50" b="0" i="0">
                <a:solidFill>
                  <a:srgbClr val="0A0E0C"/>
                </a:solidFill>
                <a:latin typeface="Arial"/>
              </a:defRPr>
            </a:pPr>
            <a:r>
              <a:t>Stockouts expected this week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13848" y="4882896"/>
            <a:ext cx="16002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250" b="1" i="0">
                <a:solidFill>
                  <a:srgbClr val="0A0E0C"/>
                </a:solidFill>
                <a:latin typeface="Consolas"/>
              </a:defRPr>
            </a:pPr>
            <a:r>
              <a:t>7 items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400800" y="5413248"/>
            <a:ext cx="4956048" cy="0"/>
          </a:xfrm>
          <a:prstGeom prst="line">
            <a:avLst/>
          </a:prstGeom>
          <a:ln w="8890">
            <a:solidFill>
              <a:srgbClr val="DFD5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1042415" y="4498848"/>
            <a:ext cx="4343400" cy="45720"/>
          </a:xfrm>
          <a:prstGeom prst="rect">
            <a:avLst/>
          </a:prstGeom>
          <a:solidFill>
            <a:srgbClr val="E0B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42415" y="4736592"/>
            <a:ext cx="429768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50" b="0" i="1">
                <a:solidFill>
                  <a:srgbClr val="ECE5D6"/>
                </a:solidFill>
                <a:latin typeface="Georgia"/>
              </a:defRPr>
            </a:pPr>
            <a:r>
              <a:t>This is what we identify as trapped, leaking, or at risk inside your store.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19088" y="5522976"/>
            <a:ext cx="4937760" cy="548640"/>
          </a:xfrm>
          <a:prstGeom prst="roundRect">
            <a:avLst/>
          </a:prstGeom>
          <a:solidFill>
            <a:srgbClr val="ECE5D6"/>
          </a:solidFill>
          <a:ln w="12700">
            <a:solidFill>
              <a:srgbClr val="DFD5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29400" y="5650992"/>
            <a:ext cx="22402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00" b="1" i="0">
                <a:solidFill>
                  <a:srgbClr val="686961"/>
                </a:solidFill>
                <a:latin typeface="Consolas"/>
              </a:defRPr>
            </a:pPr>
            <a:r>
              <a:t>Recommended next step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32520" y="5623560"/>
            <a:ext cx="24231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050" b="1" i="0">
                <a:solidFill>
                  <a:srgbClr val="0B6B3A"/>
                </a:solidFill>
                <a:latin typeface="Consolas"/>
              </a:defRPr>
            </a:pPr>
            <a:r>
              <a:t>30-Day Pilot · SAR 3,000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21945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00" b="1" i="0">
                <a:solidFill>
                  <a:srgbClr val="0A0E0C"/>
                </a:solidFill>
                <a:latin typeface="Consolas"/>
              </a:defRPr>
            </a:pPr>
            <a:r>
              <a:t>● NAZMOS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52760" y="201168"/>
            <a:ext cx="10058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800" b="0" i="0">
                <a:solidFill>
                  <a:srgbClr val="686961"/>
                </a:solidFill>
                <a:latin typeface="Consolas"/>
              </a:defRPr>
            </a:pPr>
            <a:r>
              <a:t>04 /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6446520"/>
            <a:ext cx="16916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700" b="0" i="0">
                <a:solidFill>
                  <a:srgbClr val="686961"/>
                </a:solidFill>
                <a:latin typeface="Consolas"/>
              </a:defRPr>
            </a:pPr>
            <a:r>
              <a:t>CLICK 1/4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667512"/>
            <a:ext cx="274320" cy="0"/>
          </a:xfrm>
          <a:prstGeom prst="line">
            <a:avLst/>
          </a:prstGeom>
          <a:ln w="13970">
            <a:solidFill>
              <a:srgbClr val="6869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24128" y="539496"/>
            <a:ext cx="45720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50" b="1" i="0">
                <a:solidFill>
                  <a:srgbClr val="686961"/>
                </a:solidFill>
                <a:latin typeface="Consolas"/>
              </a:defRPr>
            </a:pPr>
            <a:r>
              <a:t>WHAT WE WATCH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914400"/>
            <a:ext cx="10241280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3300" b="1" i="0">
                <a:solidFill>
                  <a:srgbClr val="0A0E0C"/>
                </a:solidFill>
                <a:latin typeface="Georgia"/>
              </a:defRPr>
            </a:pPr>
            <a:r>
              <a:t>We monitor the four ways stores lose money.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029968"/>
            <a:ext cx="5212080" cy="1783080"/>
          </a:xfrm>
          <a:prstGeom prst="roundRect">
            <a:avLst/>
          </a:prstGeom>
          <a:solidFill>
            <a:srgbClr val="ECE5D6"/>
          </a:solidFill>
          <a:ln w="12700">
            <a:solidFill>
              <a:srgbClr val="DFD5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2029968"/>
            <a:ext cx="73152" cy="1783080"/>
          </a:xfrm>
          <a:prstGeom prst="rect">
            <a:avLst/>
          </a:prstGeom>
          <a:solidFill>
            <a:srgbClr val="C84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0704" y="2267712"/>
            <a:ext cx="45720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100" b="1" i="0">
                <a:solidFill>
                  <a:srgbClr val="0A0E0C"/>
                </a:solidFill>
                <a:latin typeface="Georgia"/>
              </a:defRPr>
            </a:pPr>
            <a:r>
              <a:t>Cash Leakage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" y="2816352"/>
            <a:ext cx="443484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60" b="0" i="0">
                <a:solidFill>
                  <a:srgbClr val="0A0E0C"/>
                </a:solidFill>
                <a:latin typeface="Arial"/>
              </a:defRPr>
            </a:pPr>
            <a:r>
              <a:t>Money stuck in slow-moving or dead stock that ties up your cash flow.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21945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00" b="1" i="0">
                <a:solidFill>
                  <a:srgbClr val="0A0E0C"/>
                </a:solidFill>
                <a:latin typeface="Consolas"/>
              </a:defRPr>
            </a:pPr>
            <a:r>
              <a:t>● NAZMOS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52760" y="201168"/>
            <a:ext cx="10058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800" b="0" i="0">
                <a:solidFill>
                  <a:srgbClr val="686961"/>
                </a:solidFill>
                <a:latin typeface="Consolas"/>
              </a:defRPr>
            </a:pPr>
            <a:r>
              <a:t>04 /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6446520"/>
            <a:ext cx="16916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700" b="0" i="0">
                <a:solidFill>
                  <a:srgbClr val="686961"/>
                </a:solidFill>
                <a:latin typeface="Consolas"/>
              </a:defRPr>
            </a:pPr>
            <a:r>
              <a:t>CLICK 2/4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667512"/>
            <a:ext cx="274320" cy="0"/>
          </a:xfrm>
          <a:prstGeom prst="line">
            <a:avLst/>
          </a:prstGeom>
          <a:ln w="13970">
            <a:solidFill>
              <a:srgbClr val="6869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24128" y="539496"/>
            <a:ext cx="45720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50" b="1" i="0">
                <a:solidFill>
                  <a:srgbClr val="686961"/>
                </a:solidFill>
                <a:latin typeface="Consolas"/>
              </a:defRPr>
            </a:pPr>
            <a:r>
              <a:t>WHAT WE WATCH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914400"/>
            <a:ext cx="10241280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3300" b="1" i="0">
                <a:solidFill>
                  <a:srgbClr val="0A0E0C"/>
                </a:solidFill>
                <a:latin typeface="Georgia"/>
              </a:defRPr>
            </a:pPr>
            <a:r>
              <a:t>We monitor the four ways stores lose money.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029968"/>
            <a:ext cx="5212080" cy="1783080"/>
          </a:xfrm>
          <a:prstGeom prst="roundRect">
            <a:avLst/>
          </a:prstGeom>
          <a:solidFill>
            <a:srgbClr val="ECE5D6"/>
          </a:solidFill>
          <a:ln w="12700">
            <a:solidFill>
              <a:srgbClr val="DFD5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2029968"/>
            <a:ext cx="73152" cy="1783080"/>
          </a:xfrm>
          <a:prstGeom prst="rect">
            <a:avLst/>
          </a:prstGeom>
          <a:solidFill>
            <a:srgbClr val="C84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0704" y="2267712"/>
            <a:ext cx="45720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100" b="1" i="0">
                <a:solidFill>
                  <a:srgbClr val="0A0E0C"/>
                </a:solidFill>
                <a:latin typeface="Georgia"/>
              </a:defRPr>
            </a:pPr>
            <a:r>
              <a:t>Cash Leakage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" y="2816352"/>
            <a:ext cx="443484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60" b="0" i="0">
                <a:solidFill>
                  <a:srgbClr val="0A0E0C"/>
                </a:solidFill>
                <a:latin typeface="Arial"/>
              </a:defRPr>
            </a:pPr>
            <a:r>
              <a:t>Money stuck in slow-moving or dead stock that ties up your cash flow.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2029968"/>
            <a:ext cx="5212080" cy="1783080"/>
          </a:xfrm>
          <a:prstGeom prst="roundRect">
            <a:avLst/>
          </a:prstGeom>
          <a:solidFill>
            <a:srgbClr val="ECE5D6"/>
          </a:solidFill>
          <a:ln w="12700">
            <a:solidFill>
              <a:srgbClr val="DFD5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2029968"/>
            <a:ext cx="73152" cy="1783080"/>
          </a:xfrm>
          <a:prstGeom prst="rect">
            <a:avLst/>
          </a:prstGeom>
          <a:solidFill>
            <a:srgbClr val="B88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11112" y="2267712"/>
            <a:ext cx="45720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100" b="1" i="0">
                <a:solidFill>
                  <a:srgbClr val="0A0E0C"/>
                </a:solidFill>
                <a:latin typeface="Georgia"/>
              </a:defRPr>
            </a:pPr>
            <a:r>
              <a:t>Stockout Risk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11112" y="2816352"/>
            <a:ext cx="443484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60" b="0" i="0">
                <a:solidFill>
                  <a:srgbClr val="0A0E0C"/>
                </a:solidFill>
                <a:latin typeface="Arial"/>
              </a:defRPr>
            </a:pPr>
            <a:r>
              <a:t>Fast-moving items about to run out, costing you sales and customers.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21945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00" b="1" i="0">
                <a:solidFill>
                  <a:srgbClr val="0A0E0C"/>
                </a:solidFill>
                <a:latin typeface="Consolas"/>
              </a:defRPr>
            </a:pPr>
            <a:r>
              <a:t>● NAZMOS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52760" y="201168"/>
            <a:ext cx="10058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800" b="0" i="0">
                <a:solidFill>
                  <a:srgbClr val="686961"/>
                </a:solidFill>
                <a:latin typeface="Consolas"/>
              </a:defRPr>
            </a:pPr>
            <a:r>
              <a:t>04 /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6446520"/>
            <a:ext cx="16916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700" b="0" i="0">
                <a:solidFill>
                  <a:srgbClr val="686961"/>
                </a:solidFill>
                <a:latin typeface="Consolas"/>
              </a:defRPr>
            </a:pPr>
            <a:r>
              <a:t>CLICK 3/4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667512"/>
            <a:ext cx="274320" cy="0"/>
          </a:xfrm>
          <a:prstGeom prst="line">
            <a:avLst/>
          </a:prstGeom>
          <a:ln w="13970">
            <a:solidFill>
              <a:srgbClr val="6869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24128" y="539496"/>
            <a:ext cx="45720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50" b="1" i="0">
                <a:solidFill>
                  <a:srgbClr val="686961"/>
                </a:solidFill>
                <a:latin typeface="Consolas"/>
              </a:defRPr>
            </a:pPr>
            <a:r>
              <a:t>WHAT WE WATCH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914400"/>
            <a:ext cx="10241280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3300" b="1" i="0">
                <a:solidFill>
                  <a:srgbClr val="0A0E0C"/>
                </a:solidFill>
                <a:latin typeface="Georgia"/>
              </a:defRPr>
            </a:pPr>
            <a:r>
              <a:t>We monitor the four ways stores lose money.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029968"/>
            <a:ext cx="5212080" cy="1783080"/>
          </a:xfrm>
          <a:prstGeom prst="roundRect">
            <a:avLst/>
          </a:prstGeom>
          <a:solidFill>
            <a:srgbClr val="ECE5D6"/>
          </a:solidFill>
          <a:ln w="12700">
            <a:solidFill>
              <a:srgbClr val="DFD5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2029968"/>
            <a:ext cx="73152" cy="1783080"/>
          </a:xfrm>
          <a:prstGeom prst="rect">
            <a:avLst/>
          </a:prstGeom>
          <a:solidFill>
            <a:srgbClr val="C84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0704" y="2267712"/>
            <a:ext cx="45720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100" b="1" i="0">
                <a:solidFill>
                  <a:srgbClr val="0A0E0C"/>
                </a:solidFill>
                <a:latin typeface="Georgia"/>
              </a:defRPr>
            </a:pPr>
            <a:r>
              <a:t>Cash Leakage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" y="2816352"/>
            <a:ext cx="443484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60" b="0" i="0">
                <a:solidFill>
                  <a:srgbClr val="0A0E0C"/>
                </a:solidFill>
                <a:latin typeface="Arial"/>
              </a:defRPr>
            </a:pPr>
            <a:r>
              <a:t>Money stuck in slow-moving or dead stock that ties up your cash flow.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2029968"/>
            <a:ext cx="5212080" cy="1783080"/>
          </a:xfrm>
          <a:prstGeom prst="roundRect">
            <a:avLst/>
          </a:prstGeom>
          <a:solidFill>
            <a:srgbClr val="ECE5D6"/>
          </a:solidFill>
          <a:ln w="12700">
            <a:solidFill>
              <a:srgbClr val="DFD5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2029968"/>
            <a:ext cx="73152" cy="1783080"/>
          </a:xfrm>
          <a:prstGeom prst="rect">
            <a:avLst/>
          </a:prstGeom>
          <a:solidFill>
            <a:srgbClr val="B88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11112" y="2267712"/>
            <a:ext cx="45720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100" b="1" i="0">
                <a:solidFill>
                  <a:srgbClr val="0A0E0C"/>
                </a:solidFill>
                <a:latin typeface="Georgia"/>
              </a:defRPr>
            </a:pPr>
            <a:r>
              <a:t>Stockout Risk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11112" y="2816352"/>
            <a:ext cx="443484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60" b="0" i="0">
                <a:solidFill>
                  <a:srgbClr val="0A0E0C"/>
                </a:solidFill>
                <a:latin typeface="Arial"/>
              </a:defRPr>
            </a:pPr>
            <a:r>
              <a:t>Fast-moving items about to run out, costing you sales and customers.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4279392"/>
            <a:ext cx="5212080" cy="1783080"/>
          </a:xfrm>
          <a:prstGeom prst="roundRect">
            <a:avLst/>
          </a:prstGeom>
          <a:solidFill>
            <a:srgbClr val="ECE5D6"/>
          </a:solidFill>
          <a:ln w="12700">
            <a:solidFill>
              <a:srgbClr val="DFD5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13232" y="4279392"/>
            <a:ext cx="73152" cy="1783080"/>
          </a:xfrm>
          <a:prstGeom prst="rect">
            <a:avLst/>
          </a:prstGeom>
          <a:solidFill>
            <a:srgbClr val="0B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0704" y="4517136"/>
            <a:ext cx="45720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100" b="1" i="0">
                <a:solidFill>
                  <a:srgbClr val="0A0E0C"/>
                </a:solidFill>
                <a:latin typeface="Georgia"/>
              </a:defRPr>
            </a:pPr>
            <a:r>
              <a:t>Margin Drops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" y="5065776"/>
            <a:ext cx="443484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60" b="0" i="0">
                <a:solidFill>
                  <a:srgbClr val="0A0E0C"/>
                </a:solidFill>
                <a:latin typeface="Arial"/>
              </a:defRPr>
            </a:pPr>
            <a:r>
              <a:t>Supplier costs increasing quietly, eating into your daily profits.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21945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00" b="1" i="0">
                <a:solidFill>
                  <a:srgbClr val="0A0E0C"/>
                </a:solidFill>
                <a:latin typeface="Consolas"/>
              </a:defRPr>
            </a:pPr>
            <a:r>
              <a:t>● NAZMOS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52760" y="201168"/>
            <a:ext cx="10058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800" b="0" i="0">
                <a:solidFill>
                  <a:srgbClr val="686961"/>
                </a:solidFill>
                <a:latin typeface="Consolas"/>
              </a:defRPr>
            </a:pPr>
            <a:r>
              <a:t>04 /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6446520"/>
            <a:ext cx="16916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700" b="0" i="0">
                <a:solidFill>
                  <a:srgbClr val="686961"/>
                </a:solidFill>
                <a:latin typeface="Consolas"/>
              </a:defRPr>
            </a:pPr>
            <a:r>
              <a:t>CLICK 4/4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667512"/>
            <a:ext cx="274320" cy="0"/>
          </a:xfrm>
          <a:prstGeom prst="line">
            <a:avLst/>
          </a:prstGeom>
          <a:ln w="13970">
            <a:solidFill>
              <a:srgbClr val="6869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24128" y="539496"/>
            <a:ext cx="45720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50" b="1" i="0">
                <a:solidFill>
                  <a:srgbClr val="686961"/>
                </a:solidFill>
                <a:latin typeface="Consolas"/>
              </a:defRPr>
            </a:pPr>
            <a:r>
              <a:t>WHAT WE WATCH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914400"/>
            <a:ext cx="10241280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3300" b="1" i="0">
                <a:solidFill>
                  <a:srgbClr val="0A0E0C"/>
                </a:solidFill>
                <a:latin typeface="Georgia"/>
              </a:defRPr>
            </a:pPr>
            <a:r>
              <a:t>We monitor the four ways stores lose money.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029968"/>
            <a:ext cx="5212080" cy="1783080"/>
          </a:xfrm>
          <a:prstGeom prst="roundRect">
            <a:avLst/>
          </a:prstGeom>
          <a:solidFill>
            <a:srgbClr val="ECE5D6"/>
          </a:solidFill>
          <a:ln w="12700">
            <a:solidFill>
              <a:srgbClr val="DFD5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2029968"/>
            <a:ext cx="73152" cy="1783080"/>
          </a:xfrm>
          <a:prstGeom prst="rect">
            <a:avLst/>
          </a:prstGeom>
          <a:solidFill>
            <a:srgbClr val="C84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0704" y="2267712"/>
            <a:ext cx="45720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100" b="1" i="0">
                <a:solidFill>
                  <a:srgbClr val="0A0E0C"/>
                </a:solidFill>
                <a:latin typeface="Georgia"/>
              </a:defRPr>
            </a:pPr>
            <a:r>
              <a:t>Cash Leakage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" y="2816352"/>
            <a:ext cx="443484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60" b="0" i="0">
                <a:solidFill>
                  <a:srgbClr val="0A0E0C"/>
                </a:solidFill>
                <a:latin typeface="Arial"/>
              </a:defRPr>
            </a:pPr>
            <a:r>
              <a:t>Money stuck in slow-moving or dead stock that ties up your cash flow.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2029968"/>
            <a:ext cx="5212080" cy="1783080"/>
          </a:xfrm>
          <a:prstGeom prst="roundRect">
            <a:avLst/>
          </a:prstGeom>
          <a:solidFill>
            <a:srgbClr val="ECE5D6"/>
          </a:solidFill>
          <a:ln w="12700">
            <a:solidFill>
              <a:srgbClr val="DFD5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2029968"/>
            <a:ext cx="73152" cy="1783080"/>
          </a:xfrm>
          <a:prstGeom prst="rect">
            <a:avLst/>
          </a:prstGeom>
          <a:solidFill>
            <a:srgbClr val="B88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11112" y="2267712"/>
            <a:ext cx="45720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100" b="1" i="0">
                <a:solidFill>
                  <a:srgbClr val="0A0E0C"/>
                </a:solidFill>
                <a:latin typeface="Georgia"/>
              </a:defRPr>
            </a:pPr>
            <a:r>
              <a:t>Stockout Risk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11112" y="2816352"/>
            <a:ext cx="443484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60" b="0" i="0">
                <a:solidFill>
                  <a:srgbClr val="0A0E0C"/>
                </a:solidFill>
                <a:latin typeface="Arial"/>
              </a:defRPr>
            </a:pPr>
            <a:r>
              <a:t>Fast-moving items about to run out, costing you sales and customers.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4279392"/>
            <a:ext cx="5212080" cy="1783080"/>
          </a:xfrm>
          <a:prstGeom prst="roundRect">
            <a:avLst/>
          </a:prstGeom>
          <a:solidFill>
            <a:srgbClr val="ECE5D6"/>
          </a:solidFill>
          <a:ln w="12700">
            <a:solidFill>
              <a:srgbClr val="DFD5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13232" y="4279392"/>
            <a:ext cx="73152" cy="1783080"/>
          </a:xfrm>
          <a:prstGeom prst="rect">
            <a:avLst/>
          </a:prstGeom>
          <a:solidFill>
            <a:srgbClr val="0B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0704" y="4517136"/>
            <a:ext cx="45720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100" b="1" i="0">
                <a:solidFill>
                  <a:srgbClr val="0A0E0C"/>
                </a:solidFill>
                <a:latin typeface="Georgia"/>
              </a:defRPr>
            </a:pPr>
            <a:r>
              <a:t>Margin Drops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" y="5065776"/>
            <a:ext cx="443484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60" b="0" i="0">
                <a:solidFill>
                  <a:srgbClr val="0A0E0C"/>
                </a:solidFill>
                <a:latin typeface="Arial"/>
              </a:defRPr>
            </a:pPr>
            <a:r>
              <a:t>Supplier costs increasing quietly, eating into your daily profits.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4279392"/>
            <a:ext cx="5212080" cy="1783080"/>
          </a:xfrm>
          <a:prstGeom prst="roundRect">
            <a:avLst/>
          </a:prstGeom>
          <a:solidFill>
            <a:srgbClr val="ECE5D6"/>
          </a:solidFill>
          <a:ln w="12700">
            <a:solidFill>
              <a:srgbClr val="DFD5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4279392"/>
            <a:ext cx="73152" cy="1783080"/>
          </a:xfrm>
          <a:prstGeom prst="rect">
            <a:avLst/>
          </a:prstGeom>
          <a:solidFill>
            <a:srgbClr val="0A0E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11112" y="4517136"/>
            <a:ext cx="45720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100" b="1" i="0">
                <a:solidFill>
                  <a:srgbClr val="0A0E0C"/>
                </a:solidFill>
                <a:latin typeface="Georgia"/>
              </a:defRPr>
            </a:pPr>
            <a:r>
              <a:t>Branch Imbalance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11112" y="5065776"/>
            <a:ext cx="443484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60" b="0" i="0">
                <a:solidFill>
                  <a:srgbClr val="0A0E0C"/>
                </a:solidFill>
                <a:latin typeface="Arial"/>
              </a:defRPr>
            </a:pPr>
            <a:r>
              <a:t>Overstock in one branch while another runs empty. We suggest transfers.</a:t>
            </a: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21945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00" b="1" i="0">
                <a:solidFill>
                  <a:srgbClr val="F4EFE6"/>
                </a:solidFill>
                <a:latin typeface="Consolas"/>
              </a:defRPr>
            </a:pPr>
            <a:r>
              <a:t>● NAZMOS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52760" y="201168"/>
            <a:ext cx="10058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800" b="0" i="0">
                <a:solidFill>
                  <a:srgbClr val="8696A0"/>
                </a:solidFill>
                <a:latin typeface="Consolas"/>
              </a:defRPr>
            </a:pPr>
            <a:r>
              <a:t>05 /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6446520"/>
            <a:ext cx="16916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700" b="0" i="0">
                <a:solidFill>
                  <a:srgbClr val="8696A0"/>
                </a:solidFill>
                <a:latin typeface="Consolas"/>
              </a:defRPr>
            </a:pPr>
            <a:r>
              <a:t>CLICK 1/3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667512"/>
            <a:ext cx="274320" cy="0"/>
          </a:xfrm>
          <a:prstGeom prst="line">
            <a:avLst/>
          </a:prstGeom>
          <a:ln w="13970">
            <a:solidFill>
              <a:srgbClr val="869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24128" y="539496"/>
            <a:ext cx="45720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50" b="1" i="0">
                <a:solidFill>
                  <a:srgbClr val="8696A0"/>
                </a:solidFill>
                <a:latin typeface="Consolas"/>
              </a:defRPr>
            </a:pPr>
            <a:r>
              <a:t>THE OWNER EXPERIENCE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914400"/>
            <a:ext cx="640080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3800" b="1" i="0">
                <a:solidFill>
                  <a:srgbClr val="FFFFFF"/>
                </a:solidFill>
                <a:latin typeface="Georgia"/>
              </a:defRPr>
            </a:pPr>
            <a:r>
              <a:t>Approve fixes in one tap.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057400"/>
            <a:ext cx="3977639" cy="1691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0" i="0">
                <a:solidFill>
                  <a:srgbClr val="ECE5D6"/>
                </a:solidFill>
                <a:latin typeface="Arial"/>
              </a:defRPr>
            </a:pPr>
            <a:r>
              <a:t>NazmOS doesn't just show charts.</a:t>
            </a:r>
          </a:p>
          <a:p>
            <a:pPr algn="l">
              <a:defRPr sz="1500" b="0" i="0">
                <a:solidFill>
                  <a:srgbClr val="ECE5D6"/>
                </a:solidFill>
                <a:latin typeface="Arial"/>
              </a:defRPr>
            </a:pPr>
            <a:r>
              <a:t>It sends specific actions directly to the owner's WhatsApp.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3977639"/>
            <a:ext cx="3886200" cy="7772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1" i="0">
                <a:solidFill>
                  <a:srgbClr val="E0B34A"/>
                </a:solidFill>
                <a:latin typeface="Georgia"/>
              </a:defRPr>
            </a:pPr>
            <a:r>
              <a:t>No app to learn. No daily logins. Just simple decisions that protect cash.</a:t>
            </a:r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21945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00" b="1" i="0">
                <a:solidFill>
                  <a:srgbClr val="F4EFE6"/>
                </a:solidFill>
                <a:latin typeface="Consolas"/>
              </a:defRPr>
            </a:pPr>
            <a:r>
              <a:t>● NAZMOS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52760" y="201168"/>
            <a:ext cx="10058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800" b="0" i="0">
                <a:solidFill>
                  <a:srgbClr val="8696A0"/>
                </a:solidFill>
                <a:latin typeface="Consolas"/>
              </a:defRPr>
            </a:pPr>
            <a:r>
              <a:t>05 /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6446520"/>
            <a:ext cx="16916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700" b="0" i="0">
                <a:solidFill>
                  <a:srgbClr val="8696A0"/>
                </a:solidFill>
                <a:latin typeface="Consolas"/>
              </a:defRPr>
            </a:pPr>
            <a:r>
              <a:t>CLICK 2/3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667512"/>
            <a:ext cx="274320" cy="0"/>
          </a:xfrm>
          <a:prstGeom prst="line">
            <a:avLst/>
          </a:prstGeom>
          <a:ln w="13970">
            <a:solidFill>
              <a:srgbClr val="869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24128" y="539496"/>
            <a:ext cx="45720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50" b="1" i="0">
                <a:solidFill>
                  <a:srgbClr val="8696A0"/>
                </a:solidFill>
                <a:latin typeface="Consolas"/>
              </a:defRPr>
            </a:pPr>
            <a:r>
              <a:t>THE OWNER EXPERIENCE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914400"/>
            <a:ext cx="640080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3800" b="1" i="0">
                <a:solidFill>
                  <a:srgbClr val="FFFFFF"/>
                </a:solidFill>
                <a:latin typeface="Georgia"/>
              </a:defRPr>
            </a:pPr>
            <a:r>
              <a:t>Approve fixes in one tap.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057400"/>
            <a:ext cx="3977639" cy="1691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0" i="0">
                <a:solidFill>
                  <a:srgbClr val="ECE5D6"/>
                </a:solidFill>
                <a:latin typeface="Arial"/>
              </a:defRPr>
            </a:pPr>
            <a:r>
              <a:t>NazmOS doesn't just show charts.</a:t>
            </a:r>
          </a:p>
          <a:p>
            <a:pPr algn="l">
              <a:defRPr sz="1500" b="0" i="0">
                <a:solidFill>
                  <a:srgbClr val="ECE5D6"/>
                </a:solidFill>
                <a:latin typeface="Arial"/>
              </a:defRPr>
            </a:pPr>
            <a:r>
              <a:t>It sends specific actions directly to the owner's WhatsApp.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3977639"/>
            <a:ext cx="3886200" cy="7772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1" i="0">
                <a:solidFill>
                  <a:srgbClr val="E0B34A"/>
                </a:solidFill>
                <a:latin typeface="Georgia"/>
              </a:defRPr>
            </a:pPr>
            <a:r>
              <a:t>No app to learn. No daily logins. Just simple decisions that protect cash.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74920" y="1234440"/>
            <a:ext cx="3337560" cy="5230368"/>
          </a:xfrm>
          <a:prstGeom prst="roundRect">
            <a:avLst/>
          </a:prstGeom>
          <a:solidFill>
            <a:srgbClr val="050706"/>
          </a:solidFill>
          <a:ln w="12700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276088" y="1481328"/>
            <a:ext cx="2935224" cy="4754880"/>
          </a:xfrm>
          <a:prstGeom prst="roundRect">
            <a:avLst/>
          </a:prstGeom>
          <a:solidFill>
            <a:srgbClr val="0B1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276088" y="1481328"/>
            <a:ext cx="2935224" cy="621792"/>
          </a:xfrm>
          <a:prstGeom prst="roundRect">
            <a:avLst/>
          </a:prstGeom>
          <a:solidFill>
            <a:srgbClr val="1F2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486400" y="1627632"/>
            <a:ext cx="384048" cy="384048"/>
          </a:xfrm>
          <a:prstGeom prst="ellipse">
            <a:avLst/>
          </a:prstGeom>
          <a:solidFill>
            <a:srgbClr val="0B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0" y="1700784"/>
            <a:ext cx="38404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Georgia"/>
              </a:defRPr>
            </a:pPr>
            <a:r>
              <a:t>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61888" y="1600200"/>
            <a:ext cx="14173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050" b="1" i="0">
                <a:solidFill>
                  <a:srgbClr val="FFFFFF"/>
                </a:solidFill>
                <a:latin typeface="Arial"/>
              </a:defRPr>
            </a:pPr>
            <a:r>
              <a:t>NazmOS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61888" y="1828800"/>
            <a:ext cx="14173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750" b="0" i="0">
                <a:solidFill>
                  <a:srgbClr val="8696A0"/>
                </a:solidFill>
                <a:latin typeface="Arial"/>
              </a:defRPr>
            </a:pPr>
            <a:r>
              <a:t>online · Business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504688" y="2423160"/>
            <a:ext cx="2487168" cy="1417320"/>
          </a:xfrm>
          <a:prstGeom prst="roundRect">
            <a:avLst/>
          </a:prstGeom>
          <a:solidFill>
            <a:srgbClr val="3D2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50992" y="2560320"/>
            <a:ext cx="217627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950" b="1" i="0">
                <a:solidFill>
                  <a:srgbClr val="C8412A"/>
                </a:solidFill>
                <a:latin typeface="Arial"/>
              </a:defRPr>
            </a:pPr>
            <a:r>
              <a:t>تنبيه نفاد المخزون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50992" y="2852928"/>
            <a:ext cx="2176272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919" b="0" i="0">
                <a:solidFill>
                  <a:srgbClr val="FFFFFF"/>
                </a:solidFill>
                <a:latin typeface="Arial"/>
              </a:defRPr>
            </a:pPr>
            <a:r>
              <a:t>حليب المراعي قد ينتهي خلال 1.8 يوم.</a:t>
            </a:r>
          </a:p>
          <a:p>
            <a:pPr algn="r">
              <a:defRPr sz="919" b="0" i="0">
                <a:solidFill>
                  <a:srgbClr val="FFFFFF"/>
                </a:solidFill>
                <a:latin typeface="Arial"/>
              </a:defRPr>
            </a:pPr>
            <a:r>
              <a:t>الطلب المقترح: 120 وحدة</a:t>
            </a:r>
          </a:p>
          <a:p>
            <a:pPr algn="r">
              <a:defRPr sz="919" b="0" i="0">
                <a:solidFill>
                  <a:srgbClr val="FFFFFF"/>
                </a:solidFill>
                <a:latin typeface="Arial"/>
              </a:defRPr>
            </a:pPr>
            <a:r>
              <a:t>التكلفة: 840 ر.س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504688" y="4041648"/>
            <a:ext cx="2487168" cy="914400"/>
          </a:xfrm>
          <a:prstGeom prst="roundRect">
            <a:avLst/>
          </a:prstGeom>
          <a:solidFill>
            <a:srgbClr val="1A3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50992" y="4160520"/>
            <a:ext cx="2176272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40" b="0" i="0">
                <a:solidFill>
                  <a:srgbClr val="FFFFFF"/>
                </a:solidFill>
                <a:latin typeface="Arial"/>
              </a:defRPr>
            </a:pPr>
            <a:r>
              <a:t>Stockout Warning:</a:t>
            </a:r>
          </a:p>
          <a:p>
            <a:pPr algn="l">
              <a:defRPr sz="840" b="0" i="0">
                <a:solidFill>
                  <a:srgbClr val="FFFFFF"/>
                </a:solidFill>
                <a:latin typeface="Arial"/>
              </a:defRPr>
            </a:pPr>
            <a:r>
              <a:t>Almarai Milk may finish in 1.8 days.</a:t>
            </a:r>
          </a:p>
          <a:p>
            <a:pPr algn="l">
              <a:defRPr sz="840" b="0" i="0">
                <a:solidFill>
                  <a:srgbClr val="FFFFFF"/>
                </a:solidFill>
                <a:latin typeface="Arial"/>
              </a:defRPr>
            </a:pPr>
            <a:r>
              <a:t>Reorder 120 units.</a:t>
            </a:r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21945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00" b="1" i="0">
                <a:solidFill>
                  <a:srgbClr val="F4EFE6"/>
                </a:solidFill>
                <a:latin typeface="Consolas"/>
              </a:defRPr>
            </a:pPr>
            <a:r>
              <a:t>● NAZMOS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52760" y="201168"/>
            <a:ext cx="10058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800" b="0" i="0">
                <a:solidFill>
                  <a:srgbClr val="8696A0"/>
                </a:solidFill>
                <a:latin typeface="Consolas"/>
              </a:defRPr>
            </a:pPr>
            <a:r>
              <a:t>05 /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6446520"/>
            <a:ext cx="16916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700" b="0" i="0">
                <a:solidFill>
                  <a:srgbClr val="8696A0"/>
                </a:solidFill>
                <a:latin typeface="Consolas"/>
              </a:defRPr>
            </a:pPr>
            <a:r>
              <a:t>CLICK 3/3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667512"/>
            <a:ext cx="274320" cy="0"/>
          </a:xfrm>
          <a:prstGeom prst="line">
            <a:avLst/>
          </a:prstGeom>
          <a:ln w="13970">
            <a:solidFill>
              <a:srgbClr val="869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24128" y="539496"/>
            <a:ext cx="45720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50" b="1" i="0">
                <a:solidFill>
                  <a:srgbClr val="8696A0"/>
                </a:solidFill>
                <a:latin typeface="Consolas"/>
              </a:defRPr>
            </a:pPr>
            <a:r>
              <a:t>THE OWNER EXPERIENCE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914400"/>
            <a:ext cx="640080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3800" b="1" i="0">
                <a:solidFill>
                  <a:srgbClr val="FFFFFF"/>
                </a:solidFill>
                <a:latin typeface="Georgia"/>
              </a:defRPr>
            </a:pPr>
            <a:r>
              <a:t>Approve fixes in one tap.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057400"/>
            <a:ext cx="3977639" cy="1691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0" i="0">
                <a:solidFill>
                  <a:srgbClr val="ECE5D6"/>
                </a:solidFill>
                <a:latin typeface="Arial"/>
              </a:defRPr>
            </a:pPr>
            <a:r>
              <a:t>NazmOS doesn't just show charts.</a:t>
            </a:r>
          </a:p>
          <a:p>
            <a:pPr algn="l">
              <a:defRPr sz="1500" b="0" i="0">
                <a:solidFill>
                  <a:srgbClr val="ECE5D6"/>
                </a:solidFill>
                <a:latin typeface="Arial"/>
              </a:defRPr>
            </a:pPr>
            <a:r>
              <a:t>It sends specific actions directly to the owner's WhatsApp.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3977639"/>
            <a:ext cx="3886200" cy="7772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1" i="0">
                <a:solidFill>
                  <a:srgbClr val="E0B34A"/>
                </a:solidFill>
                <a:latin typeface="Georgia"/>
              </a:defRPr>
            </a:pPr>
            <a:r>
              <a:t>No app to learn. No daily logins. Just simple decisions that protect cash.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74920" y="1234440"/>
            <a:ext cx="3337560" cy="5230368"/>
          </a:xfrm>
          <a:prstGeom prst="roundRect">
            <a:avLst/>
          </a:prstGeom>
          <a:solidFill>
            <a:srgbClr val="050706"/>
          </a:solidFill>
          <a:ln w="12700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276088" y="1481328"/>
            <a:ext cx="2935224" cy="4754880"/>
          </a:xfrm>
          <a:prstGeom prst="roundRect">
            <a:avLst/>
          </a:prstGeom>
          <a:solidFill>
            <a:srgbClr val="0B1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276088" y="1481328"/>
            <a:ext cx="2935224" cy="621792"/>
          </a:xfrm>
          <a:prstGeom prst="roundRect">
            <a:avLst/>
          </a:prstGeom>
          <a:solidFill>
            <a:srgbClr val="1F2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486400" y="1627632"/>
            <a:ext cx="384048" cy="384048"/>
          </a:xfrm>
          <a:prstGeom prst="ellipse">
            <a:avLst/>
          </a:prstGeom>
          <a:solidFill>
            <a:srgbClr val="0B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0" y="1700784"/>
            <a:ext cx="38404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Georgia"/>
              </a:defRPr>
            </a:pPr>
            <a:r>
              <a:t>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61888" y="1600200"/>
            <a:ext cx="14173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050" b="1" i="0">
                <a:solidFill>
                  <a:srgbClr val="FFFFFF"/>
                </a:solidFill>
                <a:latin typeface="Arial"/>
              </a:defRPr>
            </a:pPr>
            <a:r>
              <a:t>NazmOS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61888" y="1828800"/>
            <a:ext cx="14173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750" b="0" i="0">
                <a:solidFill>
                  <a:srgbClr val="8696A0"/>
                </a:solidFill>
                <a:latin typeface="Arial"/>
              </a:defRPr>
            </a:pPr>
            <a:r>
              <a:t>online · Business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504688" y="2423160"/>
            <a:ext cx="2487168" cy="1417320"/>
          </a:xfrm>
          <a:prstGeom prst="roundRect">
            <a:avLst/>
          </a:prstGeom>
          <a:solidFill>
            <a:srgbClr val="3D2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50992" y="2560320"/>
            <a:ext cx="217627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950" b="1" i="0">
                <a:solidFill>
                  <a:srgbClr val="C8412A"/>
                </a:solidFill>
                <a:latin typeface="Arial"/>
              </a:defRPr>
            </a:pPr>
            <a:r>
              <a:t>تنبيه نفاد المخزون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50992" y="2852928"/>
            <a:ext cx="2176272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919" b="0" i="0">
                <a:solidFill>
                  <a:srgbClr val="FFFFFF"/>
                </a:solidFill>
                <a:latin typeface="Arial"/>
              </a:defRPr>
            </a:pPr>
            <a:r>
              <a:t>حليب المراعي قد ينتهي خلال 1.8 يوم.</a:t>
            </a:r>
          </a:p>
          <a:p>
            <a:pPr algn="r">
              <a:defRPr sz="919" b="0" i="0">
                <a:solidFill>
                  <a:srgbClr val="FFFFFF"/>
                </a:solidFill>
                <a:latin typeface="Arial"/>
              </a:defRPr>
            </a:pPr>
            <a:r>
              <a:t>الطلب المقترح: 120 وحدة</a:t>
            </a:r>
          </a:p>
          <a:p>
            <a:pPr algn="r">
              <a:defRPr sz="919" b="0" i="0">
                <a:solidFill>
                  <a:srgbClr val="FFFFFF"/>
                </a:solidFill>
                <a:latin typeface="Arial"/>
              </a:defRPr>
            </a:pPr>
            <a:r>
              <a:t>التكلفة: 840 ر.س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504688" y="4041648"/>
            <a:ext cx="2487168" cy="914400"/>
          </a:xfrm>
          <a:prstGeom prst="roundRect">
            <a:avLst/>
          </a:prstGeom>
          <a:solidFill>
            <a:srgbClr val="1A3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50992" y="4160520"/>
            <a:ext cx="2176272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40" b="0" i="0">
                <a:solidFill>
                  <a:srgbClr val="FFFFFF"/>
                </a:solidFill>
                <a:latin typeface="Arial"/>
              </a:defRPr>
            </a:pPr>
            <a:r>
              <a:t>Stockout Warning:</a:t>
            </a:r>
          </a:p>
          <a:p>
            <a:pPr algn="l">
              <a:defRPr sz="840" b="0" i="0">
                <a:solidFill>
                  <a:srgbClr val="FFFFFF"/>
                </a:solidFill>
                <a:latin typeface="Arial"/>
              </a:defRPr>
            </a:pPr>
            <a:r>
              <a:t>Almarai Milk may finish in 1.8 days.</a:t>
            </a:r>
          </a:p>
          <a:p>
            <a:pPr algn="l">
              <a:defRPr sz="840" b="0" i="0">
                <a:solidFill>
                  <a:srgbClr val="FFFFFF"/>
                </a:solidFill>
                <a:latin typeface="Arial"/>
              </a:defRPr>
            </a:pPr>
            <a:r>
              <a:t>Reorder 120 units.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504688" y="5230368"/>
            <a:ext cx="1143000" cy="384048"/>
          </a:xfrm>
          <a:prstGeom prst="roundRect">
            <a:avLst/>
          </a:prstGeom>
          <a:solidFill>
            <a:srgbClr val="25D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04688" y="5312664"/>
            <a:ext cx="11430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1" i="0">
                <a:solidFill>
                  <a:srgbClr val="0A0E0C"/>
                </a:solidFill>
                <a:latin typeface="Arial"/>
              </a:defRPr>
            </a:pPr>
            <a:r>
              <a:t>✓ موافقة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39712" y="5230368"/>
            <a:ext cx="1143000" cy="384048"/>
          </a:xfrm>
          <a:prstGeom prst="roundRect">
            <a:avLst/>
          </a:prstGeom>
          <a:solidFill>
            <a:srgbClr val="1F2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39712" y="5312664"/>
            <a:ext cx="11430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1" i="0">
                <a:solidFill>
                  <a:srgbClr val="FFFFFF"/>
                </a:solidFill>
                <a:latin typeface="Arial"/>
              </a:defRPr>
            </a:pPr>
            <a:r>
              <a:t>✕ رفض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61120" y="2057400"/>
            <a:ext cx="2560320" cy="3063240"/>
          </a:xfrm>
          <a:prstGeom prst="roundRect">
            <a:avLst/>
          </a:prstGeom>
          <a:solidFill>
            <a:srgbClr val="132018"/>
          </a:solidFill>
          <a:ln w="12700">
            <a:solidFill>
              <a:srgbClr val="2244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53728" y="2331720"/>
            <a:ext cx="19202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50" b="1" i="0">
                <a:solidFill>
                  <a:srgbClr val="E0B34A"/>
                </a:solidFill>
                <a:latin typeface="Consolas"/>
              </a:defRPr>
            </a:pPr>
            <a:r>
              <a:t>HOW IT WORKS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53728" y="2788920"/>
            <a:ext cx="2286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00" b="1" i="0">
                <a:solidFill>
                  <a:srgbClr val="25D36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46336" y="2788920"/>
            <a:ext cx="1627632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00" b="0" i="0">
                <a:solidFill>
                  <a:srgbClr val="ECE5D6"/>
                </a:solidFill>
                <a:latin typeface="Arial"/>
              </a:defRPr>
            </a:pPr>
            <a:r>
              <a:t>Detect risk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53728" y="3227832"/>
            <a:ext cx="2286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00" b="1" i="0">
                <a:solidFill>
                  <a:srgbClr val="25D36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46336" y="3227832"/>
            <a:ext cx="1627632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00" b="0" i="0">
                <a:solidFill>
                  <a:srgbClr val="ECE5D6"/>
                </a:solidFill>
                <a:latin typeface="Arial"/>
              </a:defRPr>
            </a:pPr>
            <a:r>
              <a:t>Send recommendation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53728" y="3666744"/>
            <a:ext cx="2286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00" b="1" i="0">
                <a:solidFill>
                  <a:srgbClr val="25D36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46336" y="3666744"/>
            <a:ext cx="1627632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00" b="0" i="0">
                <a:solidFill>
                  <a:srgbClr val="ECE5D6"/>
                </a:solidFill>
                <a:latin typeface="Arial"/>
              </a:defRPr>
            </a:pPr>
            <a:r>
              <a:t>Owner approves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53728" y="4105656"/>
            <a:ext cx="2286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00" b="1" i="0">
                <a:solidFill>
                  <a:srgbClr val="25D36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46336" y="4105656"/>
            <a:ext cx="1627632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00" b="0" i="0">
                <a:solidFill>
                  <a:srgbClr val="ECE5D6"/>
                </a:solidFill>
                <a:latin typeface="Arial"/>
              </a:defRPr>
            </a:pPr>
            <a:r>
              <a:t>Cash is protected</a:t>
            </a:r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21945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00" b="1" i="0">
                <a:solidFill>
                  <a:srgbClr val="0A0E0C"/>
                </a:solidFill>
                <a:latin typeface="Consolas"/>
              </a:defRPr>
            </a:pPr>
            <a:r>
              <a:t>● NAZMOS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52760" y="201168"/>
            <a:ext cx="10058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800" b="0" i="0">
                <a:solidFill>
                  <a:srgbClr val="686961"/>
                </a:solidFill>
                <a:latin typeface="Consolas"/>
              </a:defRPr>
            </a:pPr>
            <a:r>
              <a:t>06 /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6446520"/>
            <a:ext cx="16916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700" b="0" i="0">
                <a:solidFill>
                  <a:srgbClr val="686961"/>
                </a:solidFill>
                <a:latin typeface="Consolas"/>
              </a:defRPr>
            </a:pPr>
            <a:r>
              <a:t>CLICK 1/3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667512"/>
            <a:ext cx="274320" cy="0"/>
          </a:xfrm>
          <a:prstGeom prst="line">
            <a:avLst/>
          </a:prstGeom>
          <a:ln w="13970">
            <a:solidFill>
              <a:srgbClr val="6869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24128" y="539496"/>
            <a:ext cx="45720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50" b="1" i="0">
                <a:solidFill>
                  <a:srgbClr val="686961"/>
                </a:solidFill>
                <a:latin typeface="Consolas"/>
              </a:defRPr>
            </a:pPr>
            <a:r>
              <a:t>YOUR WEEKLY PROOF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914400"/>
            <a:ext cx="987552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3400" b="1" i="0">
                <a:solidFill>
                  <a:srgbClr val="0A0E0C"/>
                </a:solidFill>
                <a:latin typeface="Georgia"/>
              </a:defRPr>
            </a:pPr>
            <a:r>
              <a:t>Every Thursday: The Money Report.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084831"/>
            <a:ext cx="3429000" cy="1938528"/>
          </a:xfrm>
          <a:prstGeom prst="roundRect">
            <a:avLst/>
          </a:prstGeom>
          <a:solidFill>
            <a:srgbClr val="0A0E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286000"/>
            <a:ext cx="29718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50" b="1" i="0">
                <a:solidFill>
                  <a:srgbClr val="C8412A"/>
                </a:solidFill>
                <a:latin typeface="Consolas"/>
              </a:defRPr>
            </a:pPr>
            <a:r>
              <a:t>MONEY AT RISK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651760"/>
            <a:ext cx="297180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Georgia"/>
              </a:defRPr>
            </a:pPr>
            <a:r>
              <a:t>SAR 25,300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3346703"/>
            <a:ext cx="29718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50" b="0" i="0">
                <a:solidFill>
                  <a:srgbClr val="ECE5D6"/>
                </a:solidFill>
                <a:latin typeface="Arial"/>
              </a:defRPr>
            </a:pPr>
            <a:r>
              <a:t>identified opportunity</a:t>
            </a:r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21945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00" b="1" i="0">
                <a:solidFill>
                  <a:srgbClr val="0A0E0C"/>
                </a:solidFill>
                <a:latin typeface="Consolas"/>
              </a:defRPr>
            </a:pPr>
            <a:r>
              <a:t>● NAZMOS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52760" y="201168"/>
            <a:ext cx="10058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800" b="0" i="0">
                <a:solidFill>
                  <a:srgbClr val="686961"/>
                </a:solidFill>
                <a:latin typeface="Consolas"/>
              </a:defRPr>
            </a:pPr>
            <a:r>
              <a:t>06 /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6446520"/>
            <a:ext cx="16916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700" b="0" i="0">
                <a:solidFill>
                  <a:srgbClr val="686961"/>
                </a:solidFill>
                <a:latin typeface="Consolas"/>
              </a:defRPr>
            </a:pPr>
            <a:r>
              <a:t>CLICK 2/3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667512"/>
            <a:ext cx="274320" cy="0"/>
          </a:xfrm>
          <a:prstGeom prst="line">
            <a:avLst/>
          </a:prstGeom>
          <a:ln w="13970">
            <a:solidFill>
              <a:srgbClr val="6869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24128" y="539496"/>
            <a:ext cx="45720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50" b="1" i="0">
                <a:solidFill>
                  <a:srgbClr val="686961"/>
                </a:solidFill>
                <a:latin typeface="Consolas"/>
              </a:defRPr>
            </a:pPr>
            <a:r>
              <a:t>YOUR WEEKLY PROOF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914400"/>
            <a:ext cx="987552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3400" b="1" i="0">
                <a:solidFill>
                  <a:srgbClr val="0A0E0C"/>
                </a:solidFill>
                <a:latin typeface="Georgia"/>
              </a:defRPr>
            </a:pPr>
            <a:r>
              <a:t>Every Thursday: The Money Report.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084831"/>
            <a:ext cx="3429000" cy="1938528"/>
          </a:xfrm>
          <a:prstGeom prst="roundRect">
            <a:avLst/>
          </a:prstGeom>
          <a:solidFill>
            <a:srgbClr val="0A0E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286000"/>
            <a:ext cx="29718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50" b="1" i="0">
                <a:solidFill>
                  <a:srgbClr val="C8412A"/>
                </a:solidFill>
                <a:latin typeface="Consolas"/>
              </a:defRPr>
            </a:pPr>
            <a:r>
              <a:t>MONEY AT RISK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651760"/>
            <a:ext cx="297180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Georgia"/>
              </a:defRPr>
            </a:pPr>
            <a:r>
              <a:t>SAR 25,300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3346703"/>
            <a:ext cx="29718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50" b="0" i="0">
                <a:solidFill>
                  <a:srgbClr val="ECE5D6"/>
                </a:solidFill>
                <a:latin typeface="Arial"/>
              </a:defRPr>
            </a:pPr>
            <a:r>
              <a:t>identified opportunity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24528" y="2862072"/>
            <a:ext cx="2286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800" b="1" i="0">
                <a:solidFill>
                  <a:srgbClr val="B8862E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98848" y="2084831"/>
            <a:ext cx="3429000" cy="1938528"/>
          </a:xfrm>
          <a:prstGeom prst="roundRect">
            <a:avLst/>
          </a:prstGeom>
          <a:solidFill>
            <a:srgbClr val="0A0E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27448" y="2286000"/>
            <a:ext cx="29718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50" b="1" i="0">
                <a:solidFill>
                  <a:srgbClr val="E0B34A"/>
                </a:solidFill>
                <a:latin typeface="Consolas"/>
              </a:defRPr>
            </a:pPr>
            <a:r>
              <a:t>MONEY APPROVED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7448" y="2651760"/>
            <a:ext cx="297180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Georgia"/>
              </a:defRPr>
            </a:pPr>
            <a:r>
              <a:t>SAR 9,800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7448" y="3346703"/>
            <a:ext cx="29718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50" b="0" i="0">
                <a:solidFill>
                  <a:srgbClr val="ECE5D6"/>
                </a:solidFill>
                <a:latin typeface="Arial"/>
              </a:defRPr>
            </a:pPr>
            <a:r>
              <a:t>owner-approved actions</a:t>
            </a:r>
          </a:p>
        </p:txBody>
      </p:sp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21945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00" b="1" i="0">
                <a:solidFill>
                  <a:srgbClr val="0A0E0C"/>
                </a:solidFill>
                <a:latin typeface="Consolas"/>
              </a:defRPr>
            </a:pPr>
            <a:r>
              <a:t>● NAZMOS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52760" y="201168"/>
            <a:ext cx="10058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800" b="0" i="0">
                <a:solidFill>
                  <a:srgbClr val="686961"/>
                </a:solidFill>
                <a:latin typeface="Consolas"/>
              </a:defRPr>
            </a:pPr>
            <a:r>
              <a:t>06 /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6446520"/>
            <a:ext cx="16916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700" b="0" i="0">
                <a:solidFill>
                  <a:srgbClr val="686961"/>
                </a:solidFill>
                <a:latin typeface="Consolas"/>
              </a:defRPr>
            </a:pPr>
            <a:r>
              <a:t>CLICK 3/3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667512"/>
            <a:ext cx="274320" cy="0"/>
          </a:xfrm>
          <a:prstGeom prst="line">
            <a:avLst/>
          </a:prstGeom>
          <a:ln w="13970">
            <a:solidFill>
              <a:srgbClr val="6869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24128" y="539496"/>
            <a:ext cx="45720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50" b="1" i="0">
                <a:solidFill>
                  <a:srgbClr val="686961"/>
                </a:solidFill>
                <a:latin typeface="Consolas"/>
              </a:defRPr>
            </a:pPr>
            <a:r>
              <a:t>YOUR WEEKLY PROOF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914400"/>
            <a:ext cx="987552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3400" b="1" i="0">
                <a:solidFill>
                  <a:srgbClr val="0A0E0C"/>
                </a:solidFill>
                <a:latin typeface="Georgia"/>
              </a:defRPr>
            </a:pPr>
            <a:r>
              <a:t>Every Thursday: The Money Report.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084831"/>
            <a:ext cx="3429000" cy="1938528"/>
          </a:xfrm>
          <a:prstGeom prst="roundRect">
            <a:avLst/>
          </a:prstGeom>
          <a:solidFill>
            <a:srgbClr val="0A0E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286000"/>
            <a:ext cx="29718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50" b="1" i="0">
                <a:solidFill>
                  <a:srgbClr val="C8412A"/>
                </a:solidFill>
                <a:latin typeface="Consolas"/>
              </a:defRPr>
            </a:pPr>
            <a:r>
              <a:t>MONEY AT RISK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651760"/>
            <a:ext cx="297180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Georgia"/>
              </a:defRPr>
            </a:pPr>
            <a:r>
              <a:t>SAR 25,300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3346703"/>
            <a:ext cx="29718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50" b="0" i="0">
                <a:solidFill>
                  <a:srgbClr val="ECE5D6"/>
                </a:solidFill>
                <a:latin typeface="Arial"/>
              </a:defRPr>
            </a:pPr>
            <a:r>
              <a:t>identified opportunity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24528" y="2862072"/>
            <a:ext cx="2286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800" b="1" i="0">
                <a:solidFill>
                  <a:srgbClr val="B8862E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98848" y="2084831"/>
            <a:ext cx="3429000" cy="1938528"/>
          </a:xfrm>
          <a:prstGeom prst="roundRect">
            <a:avLst/>
          </a:prstGeom>
          <a:solidFill>
            <a:srgbClr val="0A0E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27448" y="2286000"/>
            <a:ext cx="29718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50" b="1" i="0">
                <a:solidFill>
                  <a:srgbClr val="E0B34A"/>
                </a:solidFill>
                <a:latin typeface="Consolas"/>
              </a:defRPr>
            </a:pPr>
            <a:r>
              <a:t>MONEY APPROVED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7448" y="2651760"/>
            <a:ext cx="297180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Georgia"/>
              </a:defRPr>
            </a:pPr>
            <a:r>
              <a:t>SAR 9,800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7448" y="3346703"/>
            <a:ext cx="29718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50" b="0" i="0">
                <a:solidFill>
                  <a:srgbClr val="ECE5D6"/>
                </a:solidFill>
                <a:latin typeface="Arial"/>
              </a:defRPr>
            </a:pPr>
            <a:r>
              <a:t>owner-approved actions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2862072"/>
            <a:ext cx="2286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800" b="1" i="0">
                <a:solidFill>
                  <a:srgbClr val="0B6B3A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75320" y="2084831"/>
            <a:ext cx="3429000" cy="1938528"/>
          </a:xfrm>
          <a:prstGeom prst="roundRect">
            <a:avLst/>
          </a:prstGeom>
          <a:solidFill>
            <a:srgbClr val="0A0E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0" y="2286000"/>
            <a:ext cx="29718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50" b="1" i="0">
                <a:solidFill>
                  <a:srgbClr val="13A05A"/>
                </a:solidFill>
                <a:latin typeface="Consolas"/>
              </a:defRPr>
            </a:pPr>
            <a:r>
              <a:t>MONEY RECOVERED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2651760"/>
            <a:ext cx="297180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Georgia"/>
              </a:defRPr>
            </a:pPr>
            <a:r>
              <a:t>SAR 6,400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3346703"/>
            <a:ext cx="29718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50" b="0" i="0">
                <a:solidFill>
                  <a:srgbClr val="ECE5D6"/>
                </a:solidFill>
                <a:latin typeface="Arial"/>
              </a:defRPr>
            </a:pPr>
            <a:r>
              <a:t>protected or recovered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617720"/>
            <a:ext cx="10936224" cy="1234440"/>
          </a:xfrm>
          <a:prstGeom prst="roundRect">
            <a:avLst/>
          </a:prstGeom>
          <a:solidFill>
            <a:srgbClr val="ECE5D6"/>
          </a:solidFill>
          <a:ln w="12700">
            <a:solidFill>
              <a:srgbClr val="DFD5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4892040"/>
            <a:ext cx="30175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50" b="1" i="0">
                <a:solidFill>
                  <a:srgbClr val="686961"/>
                </a:solidFill>
                <a:latin typeface="Consolas"/>
              </a:defRPr>
            </a:pPr>
            <a:r>
              <a:t>STOCKOUTS PREVENTED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193792"/>
            <a:ext cx="265176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200" b="1" i="0">
                <a:solidFill>
                  <a:srgbClr val="0A0E0C"/>
                </a:solidFill>
                <a:latin typeface="Georgia"/>
              </a:defRPr>
            </a:pPr>
            <a:r>
              <a:t>3 items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242816" y="4818888"/>
            <a:ext cx="0" cy="832104"/>
          </a:xfrm>
          <a:prstGeom prst="line">
            <a:avLst/>
          </a:prstGeom>
          <a:ln w="12700">
            <a:solidFill>
              <a:srgbClr val="DFD5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572000" y="4892040"/>
            <a:ext cx="31089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50" b="1" i="0">
                <a:solidFill>
                  <a:srgbClr val="686961"/>
                </a:solidFill>
                <a:latin typeface="Consolas"/>
              </a:defRPr>
            </a:pPr>
            <a:r>
              <a:t>BUSINESS HEALTH SCORE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5193792"/>
            <a:ext cx="24688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200" b="1" i="0">
                <a:solidFill>
                  <a:srgbClr val="0B6B3A"/>
                </a:solidFill>
                <a:latin typeface="Georgia"/>
              </a:defRPr>
            </a:pPr>
            <a:r>
              <a:t>82 / 100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818120" y="4818888"/>
            <a:ext cx="0" cy="832104"/>
          </a:xfrm>
          <a:prstGeom prst="line">
            <a:avLst/>
          </a:prstGeom>
          <a:ln w="12700">
            <a:solidFill>
              <a:srgbClr val="DFD5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138160" y="4892040"/>
            <a:ext cx="31089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50" b="1" i="0">
                <a:solidFill>
                  <a:srgbClr val="686961"/>
                </a:solidFill>
                <a:latin typeface="Consolas"/>
              </a:defRPr>
            </a:pPr>
            <a:r>
              <a:t>TOP ACTION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5184648"/>
            <a:ext cx="315468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1" i="0">
                <a:solidFill>
                  <a:srgbClr val="0A0E0C"/>
                </a:solidFill>
                <a:latin typeface="Georgia"/>
              </a:defRPr>
            </a:pPr>
            <a:r>
              <a:t>Transfer milk before Friday</a:t>
            </a:r>
          </a:p>
        </p:txBody>
      </p:sp>
    </p:spTree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21945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00" b="1" i="0">
                <a:solidFill>
                  <a:srgbClr val="0A0E0C"/>
                </a:solidFill>
                <a:latin typeface="Consolas"/>
              </a:defRPr>
            </a:pPr>
            <a:r>
              <a:t>● NAZMOS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52760" y="201168"/>
            <a:ext cx="10058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800" b="0" i="0">
                <a:solidFill>
                  <a:srgbClr val="686961"/>
                </a:solidFill>
                <a:latin typeface="Consolas"/>
              </a:defRPr>
            </a:pPr>
            <a:r>
              <a:t>07 /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6446520"/>
            <a:ext cx="16916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700" b="0" i="0">
                <a:solidFill>
                  <a:srgbClr val="686961"/>
                </a:solidFill>
                <a:latin typeface="Consolas"/>
              </a:defRPr>
            </a:pPr>
            <a:r>
              <a:t>CLICK 1/3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667512"/>
            <a:ext cx="274320" cy="0"/>
          </a:xfrm>
          <a:prstGeom prst="line">
            <a:avLst/>
          </a:prstGeom>
          <a:ln w="13970">
            <a:solidFill>
              <a:srgbClr val="6869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24128" y="539496"/>
            <a:ext cx="45720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50" b="1" i="0">
                <a:solidFill>
                  <a:srgbClr val="686961"/>
                </a:solidFill>
                <a:latin typeface="Consolas"/>
              </a:defRPr>
            </a:pPr>
            <a:r>
              <a:t>START SMALL, PROVE VALUE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914400"/>
            <a:ext cx="987552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3400" b="1" i="0">
                <a:solidFill>
                  <a:srgbClr val="0A0E0C"/>
                </a:solidFill>
                <a:latin typeface="Georgia"/>
              </a:defRPr>
            </a:pPr>
            <a:r>
              <a:t>Simple pricing after we prove value.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121408"/>
            <a:ext cx="5120640" cy="4069080"/>
          </a:xfrm>
          <a:prstGeom prst="roundRect">
            <a:avLst/>
          </a:prstGeom>
          <a:solidFill>
            <a:srgbClr val="0A0E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2423160"/>
            <a:ext cx="43891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00" b="1" i="0">
                <a:solidFill>
                  <a:srgbClr val="E0B34A"/>
                </a:solidFill>
                <a:latin typeface="Consolas"/>
              </a:defRPr>
            </a:pPr>
            <a:r>
              <a:t>STEP 1: FREE MONEY AUDIT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743200"/>
            <a:ext cx="429768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3100" b="1" i="0">
                <a:solidFill>
                  <a:srgbClr val="FFFFFF"/>
                </a:solidFill>
                <a:latin typeface="Georgia"/>
              </a:defRPr>
            </a:pPr>
            <a:r>
              <a:t>SAR 0</a:t>
            </a:r>
          </a:p>
        </p:txBody>
      </p:sp>
    </p:spTree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21945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00" b="1" i="0">
                <a:solidFill>
                  <a:srgbClr val="0A0E0C"/>
                </a:solidFill>
                <a:latin typeface="Consolas"/>
              </a:defRPr>
            </a:pPr>
            <a:r>
              <a:t>● NAZMOS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52760" y="201168"/>
            <a:ext cx="10058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800" b="0" i="0">
                <a:solidFill>
                  <a:srgbClr val="686961"/>
                </a:solidFill>
                <a:latin typeface="Consolas"/>
              </a:defRPr>
            </a:pPr>
            <a:r>
              <a:t>07 /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6446520"/>
            <a:ext cx="16916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700" b="0" i="0">
                <a:solidFill>
                  <a:srgbClr val="686961"/>
                </a:solidFill>
                <a:latin typeface="Consolas"/>
              </a:defRPr>
            </a:pPr>
            <a:r>
              <a:t>CLICK 2/3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667512"/>
            <a:ext cx="274320" cy="0"/>
          </a:xfrm>
          <a:prstGeom prst="line">
            <a:avLst/>
          </a:prstGeom>
          <a:ln w="13970">
            <a:solidFill>
              <a:srgbClr val="6869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24128" y="539496"/>
            <a:ext cx="45720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50" b="1" i="0">
                <a:solidFill>
                  <a:srgbClr val="686961"/>
                </a:solidFill>
                <a:latin typeface="Consolas"/>
              </a:defRPr>
            </a:pPr>
            <a:r>
              <a:t>START SMALL, PROVE VALUE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914400"/>
            <a:ext cx="987552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3400" b="1" i="0">
                <a:solidFill>
                  <a:srgbClr val="0A0E0C"/>
                </a:solidFill>
                <a:latin typeface="Georgia"/>
              </a:defRPr>
            </a:pPr>
            <a:r>
              <a:t>Simple pricing after we prove value.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121408"/>
            <a:ext cx="5120640" cy="4069080"/>
          </a:xfrm>
          <a:prstGeom prst="roundRect">
            <a:avLst/>
          </a:prstGeom>
          <a:solidFill>
            <a:srgbClr val="0A0E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2423160"/>
            <a:ext cx="43891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00" b="1" i="0">
                <a:solidFill>
                  <a:srgbClr val="E0B34A"/>
                </a:solidFill>
                <a:latin typeface="Consolas"/>
              </a:defRPr>
            </a:pPr>
            <a:r>
              <a:t>STEP 1: FREE MONEY AUDIT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743200"/>
            <a:ext cx="429768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3100" b="1" i="0">
                <a:solidFill>
                  <a:srgbClr val="FFFFFF"/>
                </a:solidFill>
                <a:latin typeface="Georgia"/>
              </a:defRPr>
            </a:pPr>
            <a:r>
              <a:t>SAR 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3584448"/>
            <a:ext cx="43891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00" b="1" i="0">
                <a:solidFill>
                  <a:srgbClr val="E0B34A"/>
                </a:solidFill>
                <a:latin typeface="Consolas"/>
              </a:defRPr>
            </a:pPr>
            <a:r>
              <a:t>STEP 2: 30-DAY RECOVERY PILOT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3904487"/>
            <a:ext cx="429768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3100" b="1" i="0">
                <a:solidFill>
                  <a:srgbClr val="FFFFFF"/>
                </a:solidFill>
                <a:latin typeface="Georgia"/>
              </a:defRPr>
            </a:pPr>
            <a:r>
              <a:t>SAR 3,000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24128" y="4773168"/>
            <a:ext cx="4343400" cy="41148"/>
          </a:xfrm>
          <a:prstGeom prst="rect">
            <a:avLst/>
          </a:prstGeom>
          <a:solidFill>
            <a:srgbClr val="E0B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5010912"/>
            <a:ext cx="438912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20" b="0" i="1">
                <a:solidFill>
                  <a:srgbClr val="13A05A"/>
                </a:solidFill>
                <a:latin typeface="Georgia"/>
              </a:defRPr>
            </a:pPr>
            <a:r>
              <a:t>Guarantee: if we do not identify at least SAR 9,000 in recoverable opportunities, we refund the pilot fee.</a:t>
            </a:r>
          </a:p>
        </p:txBody>
      </p:sp>
    </p:spTree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21945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00" b="1" i="0">
                <a:solidFill>
                  <a:srgbClr val="0A0E0C"/>
                </a:solidFill>
                <a:latin typeface="Consolas"/>
              </a:defRPr>
            </a:pPr>
            <a:r>
              <a:t>● NAZMOS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52760" y="201168"/>
            <a:ext cx="10058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800" b="0" i="0">
                <a:solidFill>
                  <a:srgbClr val="686961"/>
                </a:solidFill>
                <a:latin typeface="Consolas"/>
              </a:defRPr>
            </a:pPr>
            <a:r>
              <a:t>07 /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6446520"/>
            <a:ext cx="16916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700" b="0" i="0">
                <a:solidFill>
                  <a:srgbClr val="686961"/>
                </a:solidFill>
                <a:latin typeface="Consolas"/>
              </a:defRPr>
            </a:pPr>
            <a:r>
              <a:t>CLICK 3/3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667512"/>
            <a:ext cx="274320" cy="0"/>
          </a:xfrm>
          <a:prstGeom prst="line">
            <a:avLst/>
          </a:prstGeom>
          <a:ln w="13970">
            <a:solidFill>
              <a:srgbClr val="6869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24128" y="539496"/>
            <a:ext cx="45720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50" b="1" i="0">
                <a:solidFill>
                  <a:srgbClr val="686961"/>
                </a:solidFill>
                <a:latin typeface="Consolas"/>
              </a:defRPr>
            </a:pPr>
            <a:r>
              <a:t>START SMALL, PROVE VALUE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914400"/>
            <a:ext cx="987552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3400" b="1" i="0">
                <a:solidFill>
                  <a:srgbClr val="0A0E0C"/>
                </a:solidFill>
                <a:latin typeface="Georgia"/>
              </a:defRPr>
            </a:pPr>
            <a:r>
              <a:t>Simple pricing after we prove value.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121408"/>
            <a:ext cx="5120640" cy="4069080"/>
          </a:xfrm>
          <a:prstGeom prst="roundRect">
            <a:avLst/>
          </a:prstGeom>
          <a:solidFill>
            <a:srgbClr val="0A0E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2423160"/>
            <a:ext cx="43891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00" b="1" i="0">
                <a:solidFill>
                  <a:srgbClr val="E0B34A"/>
                </a:solidFill>
                <a:latin typeface="Consolas"/>
              </a:defRPr>
            </a:pPr>
            <a:r>
              <a:t>STEP 1: FREE MONEY AUDIT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743200"/>
            <a:ext cx="429768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3100" b="1" i="0">
                <a:solidFill>
                  <a:srgbClr val="FFFFFF"/>
                </a:solidFill>
                <a:latin typeface="Georgia"/>
              </a:defRPr>
            </a:pPr>
            <a:r>
              <a:t>SAR 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3584448"/>
            <a:ext cx="43891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00" b="1" i="0">
                <a:solidFill>
                  <a:srgbClr val="E0B34A"/>
                </a:solidFill>
                <a:latin typeface="Consolas"/>
              </a:defRPr>
            </a:pPr>
            <a:r>
              <a:t>STEP 2: 30-DAY RECOVERY PILOT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3904487"/>
            <a:ext cx="429768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3100" b="1" i="0">
                <a:solidFill>
                  <a:srgbClr val="FFFFFF"/>
                </a:solidFill>
                <a:latin typeface="Georgia"/>
              </a:defRPr>
            </a:pPr>
            <a:r>
              <a:t>SAR 3,000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24128" y="4773168"/>
            <a:ext cx="4343400" cy="41148"/>
          </a:xfrm>
          <a:prstGeom prst="rect">
            <a:avLst/>
          </a:prstGeom>
          <a:solidFill>
            <a:srgbClr val="E0B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5010912"/>
            <a:ext cx="438912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20" b="0" i="1">
                <a:solidFill>
                  <a:srgbClr val="13A05A"/>
                </a:solidFill>
                <a:latin typeface="Georgia"/>
              </a:defRPr>
            </a:pPr>
            <a:r>
              <a:t>Guarantee: if we do not identify at least SAR 9,000 in recoverable opportunities, we refund the pilot fee.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27648" y="2121408"/>
            <a:ext cx="5321808" cy="4069080"/>
          </a:xfrm>
          <a:prstGeom prst="roundRect">
            <a:avLst/>
          </a:prstGeom>
          <a:solidFill>
            <a:srgbClr val="ECE5D6"/>
          </a:solidFill>
          <a:ln w="12700">
            <a:solidFill>
              <a:srgbClr val="DFD5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2423160"/>
            <a:ext cx="44805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00" b="1" i="0">
                <a:solidFill>
                  <a:srgbClr val="686961"/>
                </a:solidFill>
                <a:latin typeface="Consolas"/>
              </a:defRPr>
            </a:pPr>
            <a:r>
              <a:t>STEP 3: ANNUAL PLANS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2944368"/>
            <a:ext cx="23317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50" b="1" i="0">
                <a:solidFill>
                  <a:srgbClr val="0A0E0C"/>
                </a:solidFill>
                <a:latin typeface="Georgia"/>
              </a:defRPr>
            </a:pPr>
            <a:r>
              <a:t>Small Retail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3264408"/>
            <a:ext cx="23317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50" b="0" i="0">
                <a:solidFill>
                  <a:srgbClr val="686961"/>
                </a:solidFill>
                <a:latin typeface="Arial"/>
              </a:defRPr>
            </a:pPr>
            <a:r>
              <a:t>1 branch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2520" y="2971800"/>
            <a:ext cx="25146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350" b="1" i="0">
                <a:solidFill>
                  <a:srgbClr val="0B6B3A"/>
                </a:solidFill>
                <a:latin typeface="Consolas"/>
              </a:defRPr>
            </a:pPr>
            <a:r>
              <a:t>SAR 6,900/yr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629400" y="3694176"/>
            <a:ext cx="4572000" cy="0"/>
          </a:xfrm>
          <a:prstGeom prst="line">
            <a:avLst/>
          </a:prstGeom>
          <a:ln w="10160">
            <a:solidFill>
              <a:srgbClr val="DFD5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629400" y="3950208"/>
            <a:ext cx="23317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50" b="1" i="0">
                <a:solidFill>
                  <a:srgbClr val="0A0E0C"/>
                </a:solidFill>
                <a:latin typeface="Georgia"/>
              </a:defRPr>
            </a:pPr>
            <a:r>
              <a:t>Growing Retail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4270248"/>
            <a:ext cx="23317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50" b="0" i="0">
                <a:solidFill>
                  <a:srgbClr val="686961"/>
                </a:solidFill>
                <a:latin typeface="Arial"/>
              </a:defRPr>
            </a:pPr>
            <a:r>
              <a:t>2–5 branches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32520" y="3977640"/>
            <a:ext cx="25146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350" b="1" i="0">
                <a:solidFill>
                  <a:srgbClr val="0B6B3A"/>
                </a:solidFill>
                <a:latin typeface="Consolas"/>
              </a:defRPr>
            </a:pPr>
            <a:r>
              <a:t>SAR 18,000/yr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629400" y="4700016"/>
            <a:ext cx="4572000" cy="0"/>
          </a:xfrm>
          <a:prstGeom prst="line">
            <a:avLst/>
          </a:prstGeom>
          <a:ln w="10160">
            <a:solidFill>
              <a:srgbClr val="DFD5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629400" y="4956048"/>
            <a:ext cx="23317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50" b="1" i="0">
                <a:solidFill>
                  <a:srgbClr val="0A0E0C"/>
                </a:solidFill>
                <a:latin typeface="Georgia"/>
              </a:defRPr>
            </a:pPr>
            <a:r>
              <a:t>Large Chains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5276088"/>
            <a:ext cx="23317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50" b="0" i="0">
                <a:solidFill>
                  <a:srgbClr val="686961"/>
                </a:solidFill>
                <a:latin typeface="Arial"/>
              </a:defRPr>
            </a:pPr>
            <a:r>
              <a:t>6+ branches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32520" y="4983480"/>
            <a:ext cx="25146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350" b="1" i="0">
                <a:solidFill>
                  <a:srgbClr val="0B6B3A"/>
                </a:solidFill>
                <a:latin typeface="Consolas"/>
              </a:defRPr>
            </a:pPr>
            <a:r>
              <a:t>Custom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629400" y="5705856"/>
            <a:ext cx="4572000" cy="0"/>
          </a:xfrm>
          <a:prstGeom prst="line">
            <a:avLst/>
          </a:prstGeom>
          <a:ln w="10160">
            <a:solidFill>
              <a:srgbClr val="DFD5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21945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00" b="1" i="0">
                <a:solidFill>
                  <a:srgbClr val="0A0E0C"/>
                </a:solidFill>
                <a:latin typeface="Consolas"/>
              </a:defRPr>
            </a:pPr>
            <a:r>
              <a:t>● NAZMOS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52760" y="201168"/>
            <a:ext cx="10058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800" b="0" i="0">
                <a:solidFill>
                  <a:srgbClr val="686961"/>
                </a:solidFill>
                <a:latin typeface="Consolas"/>
              </a:defRPr>
            </a:pPr>
            <a:r>
              <a:t>08 /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6446520"/>
            <a:ext cx="16916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700" b="0" i="0">
                <a:solidFill>
                  <a:srgbClr val="686961"/>
                </a:solidFill>
                <a:latin typeface="Consolas"/>
              </a:defRPr>
            </a:pPr>
            <a:r>
              <a:t>CLICK 1/2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667512"/>
            <a:ext cx="274320" cy="0"/>
          </a:xfrm>
          <a:prstGeom prst="line">
            <a:avLst/>
          </a:prstGeom>
          <a:ln w="13970">
            <a:solidFill>
              <a:srgbClr val="6869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24128" y="539496"/>
            <a:ext cx="45720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50" b="1" i="0">
                <a:solidFill>
                  <a:srgbClr val="686961"/>
                </a:solidFill>
                <a:latin typeface="Consolas"/>
              </a:defRPr>
            </a:pPr>
            <a:r>
              <a:t>FAQ &amp; 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914400"/>
            <a:ext cx="960120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3500" b="1" i="0">
                <a:solidFill>
                  <a:srgbClr val="0A0E0C"/>
                </a:solidFill>
                <a:latin typeface="Georgia"/>
              </a:defRPr>
            </a:pPr>
            <a:r>
              <a:t>Ready to find your lost cash?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084831"/>
            <a:ext cx="45262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50" b="1" i="0">
                <a:solidFill>
                  <a:srgbClr val="0A0E0C"/>
                </a:solidFill>
                <a:latin typeface="Georgia"/>
              </a:defRPr>
            </a:pPr>
            <a:r>
              <a:t>Do I replace my POS?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395727"/>
            <a:ext cx="45262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 i="0">
                <a:solidFill>
                  <a:srgbClr val="686961"/>
                </a:solidFill>
                <a:latin typeface="Arial"/>
              </a:defRPr>
            </a:pPr>
            <a:r>
              <a:t>No. We work with your exports.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953511"/>
            <a:ext cx="45262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50" b="1" i="0">
                <a:solidFill>
                  <a:srgbClr val="0A0E0C"/>
                </a:solidFill>
                <a:latin typeface="Georgia"/>
              </a:defRPr>
            </a:pPr>
            <a:r>
              <a:t>Do cashiers use it?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264407"/>
            <a:ext cx="45262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 i="0">
                <a:solidFill>
                  <a:srgbClr val="686961"/>
                </a:solidFill>
                <a:latin typeface="Arial"/>
              </a:defRPr>
            </a:pPr>
            <a:r>
              <a:t>No. Owners/managers get the reports.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822191"/>
            <a:ext cx="45262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50" b="1" i="0">
                <a:solidFill>
                  <a:srgbClr val="0A0E0C"/>
                </a:solidFill>
                <a:latin typeface="Georgia"/>
              </a:defRPr>
            </a:pPr>
            <a:r>
              <a:t>Is data safe?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4133087"/>
            <a:ext cx="45262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 i="0">
                <a:solidFill>
                  <a:srgbClr val="686961"/>
                </a:solidFill>
                <a:latin typeface="Arial"/>
              </a:defRPr>
            </a:pPr>
            <a:r>
              <a:t>Yes. No customer names needed.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4690872"/>
            <a:ext cx="45262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50" b="1" i="0">
                <a:solidFill>
                  <a:srgbClr val="0A0E0C"/>
                </a:solidFill>
                <a:latin typeface="Georgia"/>
              </a:defRPr>
            </a:pPr>
            <a:r>
              <a:t>Certified ZATCA?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5001768"/>
            <a:ext cx="45262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 i="0">
                <a:solidFill>
                  <a:srgbClr val="686961"/>
                </a:solidFill>
                <a:latin typeface="Arial"/>
              </a:defRPr>
            </a:pPr>
            <a:r>
              <a:t>Partner add-on when you need live clearance.</a:t>
            </a:r>
          </a:p>
        </p:txBody>
      </p:sp>
    </p:spTree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21945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00" b="1" i="0">
                <a:solidFill>
                  <a:srgbClr val="0A0E0C"/>
                </a:solidFill>
                <a:latin typeface="Consolas"/>
              </a:defRPr>
            </a:pPr>
            <a:r>
              <a:t>● NAZMOS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52760" y="201168"/>
            <a:ext cx="10058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800" b="0" i="0">
                <a:solidFill>
                  <a:srgbClr val="686961"/>
                </a:solidFill>
                <a:latin typeface="Consolas"/>
              </a:defRPr>
            </a:pPr>
            <a:r>
              <a:t>08 /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6446520"/>
            <a:ext cx="16916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700" b="0" i="0">
                <a:solidFill>
                  <a:srgbClr val="686961"/>
                </a:solidFill>
                <a:latin typeface="Consolas"/>
              </a:defRPr>
            </a:pPr>
            <a:r>
              <a:t>CLICK 2/2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667512"/>
            <a:ext cx="274320" cy="0"/>
          </a:xfrm>
          <a:prstGeom prst="line">
            <a:avLst/>
          </a:prstGeom>
          <a:ln w="13970">
            <a:solidFill>
              <a:srgbClr val="6869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24128" y="539496"/>
            <a:ext cx="45720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50" b="1" i="0">
                <a:solidFill>
                  <a:srgbClr val="686961"/>
                </a:solidFill>
                <a:latin typeface="Consolas"/>
              </a:defRPr>
            </a:pPr>
            <a:r>
              <a:t>FAQ &amp; 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914400"/>
            <a:ext cx="960120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3500" b="1" i="0">
                <a:solidFill>
                  <a:srgbClr val="0A0E0C"/>
                </a:solidFill>
                <a:latin typeface="Georgia"/>
              </a:defRPr>
            </a:pPr>
            <a:r>
              <a:t>Ready to find your lost cash?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084831"/>
            <a:ext cx="45262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50" b="1" i="0">
                <a:solidFill>
                  <a:srgbClr val="0A0E0C"/>
                </a:solidFill>
                <a:latin typeface="Georgia"/>
              </a:defRPr>
            </a:pPr>
            <a:r>
              <a:t>Do I replace my POS?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395727"/>
            <a:ext cx="45262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 i="0">
                <a:solidFill>
                  <a:srgbClr val="686961"/>
                </a:solidFill>
                <a:latin typeface="Arial"/>
              </a:defRPr>
            </a:pPr>
            <a:r>
              <a:t>No. We work with your exports.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953511"/>
            <a:ext cx="45262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50" b="1" i="0">
                <a:solidFill>
                  <a:srgbClr val="0A0E0C"/>
                </a:solidFill>
                <a:latin typeface="Georgia"/>
              </a:defRPr>
            </a:pPr>
            <a:r>
              <a:t>Do cashiers use it?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264407"/>
            <a:ext cx="45262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 i="0">
                <a:solidFill>
                  <a:srgbClr val="686961"/>
                </a:solidFill>
                <a:latin typeface="Arial"/>
              </a:defRPr>
            </a:pPr>
            <a:r>
              <a:t>No. Owners/managers get the reports.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822191"/>
            <a:ext cx="45262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50" b="1" i="0">
                <a:solidFill>
                  <a:srgbClr val="0A0E0C"/>
                </a:solidFill>
                <a:latin typeface="Georgia"/>
              </a:defRPr>
            </a:pPr>
            <a:r>
              <a:t>Is data safe?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4133087"/>
            <a:ext cx="45262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 i="0">
                <a:solidFill>
                  <a:srgbClr val="686961"/>
                </a:solidFill>
                <a:latin typeface="Arial"/>
              </a:defRPr>
            </a:pPr>
            <a:r>
              <a:t>Yes. No customer names needed.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4690872"/>
            <a:ext cx="45262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50" b="1" i="0">
                <a:solidFill>
                  <a:srgbClr val="0A0E0C"/>
                </a:solidFill>
                <a:latin typeface="Georgia"/>
              </a:defRPr>
            </a:pPr>
            <a:r>
              <a:t>Certified ZATCA?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5001768"/>
            <a:ext cx="45262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 i="0">
                <a:solidFill>
                  <a:srgbClr val="686961"/>
                </a:solidFill>
                <a:latin typeface="Arial"/>
              </a:defRPr>
            </a:pPr>
            <a:r>
              <a:t>Partner add-on when you need live clearance.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97880" y="2057400"/>
            <a:ext cx="5532120" cy="3886200"/>
          </a:xfrm>
          <a:prstGeom prst="roundRect">
            <a:avLst/>
          </a:prstGeom>
          <a:solidFill>
            <a:srgbClr val="0A0E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36208" y="2359152"/>
            <a:ext cx="47548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00" b="1" i="0">
                <a:solidFill>
                  <a:srgbClr val="E0B34A"/>
                </a:solidFill>
                <a:latin typeface="Consolas"/>
              </a:defRPr>
            </a:pPr>
            <a:r>
              <a:t>TO START TODAY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36208" y="2834640"/>
            <a:ext cx="2286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300" b="1" i="0">
                <a:solidFill>
                  <a:srgbClr val="E0B34A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8816" y="2834640"/>
            <a:ext cx="4325112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300" b="0" i="0">
                <a:solidFill>
                  <a:srgbClr val="FFFFFF"/>
                </a:solidFill>
                <a:latin typeface="Arial"/>
              </a:defRPr>
            </a:pPr>
            <a:r>
              <a:t>Send your last 90 days sales file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36208" y="3291840"/>
            <a:ext cx="2286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300" b="1" i="0">
                <a:solidFill>
                  <a:srgbClr val="E0B34A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8816" y="3291840"/>
            <a:ext cx="4325112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300" b="0" i="0">
                <a:solidFill>
                  <a:srgbClr val="FFFFFF"/>
                </a:solidFill>
                <a:latin typeface="Arial"/>
              </a:defRPr>
            </a:pPr>
            <a:r>
              <a:t>Send your current inventory file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36208" y="3749039"/>
            <a:ext cx="2286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300" b="1" i="0">
                <a:solidFill>
                  <a:srgbClr val="E0B34A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28816" y="3749039"/>
            <a:ext cx="4325112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300" b="0" i="0">
                <a:solidFill>
                  <a:srgbClr val="FFFFFF"/>
                </a:solidFill>
                <a:latin typeface="Arial"/>
              </a:defRPr>
            </a:pPr>
            <a:r>
              <a:t>Get your Free Money Audit in 48 hours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36208" y="4526280"/>
            <a:ext cx="23774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50" b="1" i="0">
                <a:solidFill>
                  <a:srgbClr val="ECE5D6"/>
                </a:solidFill>
                <a:latin typeface="Consolas"/>
              </a:defRPr>
            </a:pPr>
            <a:r>
              <a:t>WHATSAPP 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36208" y="4864608"/>
            <a:ext cx="27432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800" b="1" i="0">
                <a:solidFill>
                  <a:srgbClr val="13A05A"/>
                </a:solidFill>
                <a:latin typeface="Georgia"/>
              </a:defRPr>
            </a:pPr>
            <a:r>
              <a:t>+966 XX XXX XXXX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36208" y="5532120"/>
            <a:ext cx="47548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350" b="0" i="0">
                <a:solidFill>
                  <a:srgbClr val="ECE5D6"/>
                </a:solidFill>
                <a:latin typeface="Arial"/>
              </a:defRPr>
            </a:pPr>
            <a:r>
              <a:t>نظم — نظام استرجاع أرباح المتجر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